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ab0de2e2-cf48-a70b-e0d4-9b0cb6c7bacd}">
          <p14:sldIdLst>
            <p14:sldId id="256"/>
          </p14:sldIdLst>
        </p14:section>
        <p14:section name="Fundamentos" id="{4b285303-cb4b-6d8a-4560-02799d8a1aa8}">
          <p14:sldIdLst>
            <p14:sldId id="257"/>
            <p14:sldId id="258"/>
          </p14:sldIdLst>
        </p14:section>
        <p14:section name="Patrón" id="{ca8a25c6-a939-11c6-6d77-f86beb46c647}">
          <p14:sldIdLst>
            <p14:sldId id="259"/>
            <p14:sldId id="260"/>
            <p14:sldId id="261"/>
            <p14:sldId id="262"/>
            <p14:sldId id="263"/>
          </p14:sldIdLst>
        </p14:section>
        <p14:section name="Aplicación" id="{1c0750b9-c0cc-bdbe-c47d-006f4be5710c}">
          <p14:sldIdLst>
            <p14:sldId id="264"/>
            <p14:sldId id="265"/>
            <p14:sldId id="266"/>
          </p14:sldIdLst>
        </p14:section>
        <p14:section name="Cierre" id="{e5edb29a-cac3-0b40-f6c8-8b208f721e51}">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Saludo y presentación del equipo. Memento es un patrón de comportamiento de objetos del catálogo de la GoF, también conocido como Token. En 15 minutos veremos qué problema resuelve, cómo está estructurado, y cómo lo aplicamos en el módulo GDA de nuestro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según la GoF: capturar y externalizar el estado interno de un objeto, sin violar el encapsulamiento, para restaurarlo después. Se necesita en checkpoints y mecanismos de deshacer. La tensión: guardar el estado exige verlo, pero exponerlo rompe el encapsulamiento y compromete fiabilidad y extensibilidad. Ejemplo del libro: un editor gráfico donde dos rectángulos se conectan con una línea; un ConstraintSolver genera ecuaciones y reacomoda los gráficos. Deshacer un movimiento moviendo la misma distancia al revés no basta si hay holgura en la conexión. Hace falta restaurar el estado interno del solucionador sin exponerlo. Siguiente diapositiva: cómo lo resuelve el Memento.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libro tiene cuatro pasos. Uno: al hacer el movimiento, el editor pide un memento al ConstraintSolver. Dos: el solver crea y devuelve un SolverState, que contiene las estructuras con sus ecuaciones y variables actuales. Tres: cuando el usuario deshace, el editor le entrega ese SolverState al solver. Cuatro: con esa información el solver devuelve sus ecuaciones y variables a su estado exacto anterior. Lo importante: el memento es opaco para los demás objetos, solo el originator puede guardar y leer su contenido. Así el solver confía su información a otros sin exponer su estructura interna. En la terminología del patrón: ConstraintSolver es el originator, SolverState es el memento y el mecanismo de deshacer del editor hace de caretaker.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GoF da dos condiciones para usar Memento, y van juntas: primero, hay que guardar una instantánea del estado, o de parte de él, para restaurarlo después; segundo, una interfaz directa para obtener ese estado expondría detalles de implementación y rompería el encapsulamiento. En el editor gráfico se cumplen ambas.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Originator: crea el memento con una instantánea de su estado y lo usa para restaurarse; en el ejemplo, el ConstraintSolver. Memento: guarda el estado, tanto o tan poco como decida el originator, y lo protege: el caretaker ve una interfaz estrecha, el originator una ancha; en el ejemplo, SolverState. Caretaker: custodia el memento pero nunca opera ni examina su contenido; en el ejemplo, el mecanismo de deshacer.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clases. El Originator tiene el estado, crea mementos con CreateMemento y se restaura con SetMemento. El Memento guarda el estado; sus operaciones GetState y SetState son privadas, solo accesibles al originator. El Caretaker guarda mementos pero no puede leerlos. Esto es la doble interfaz: ancha para el originator, estrecha para el resto.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caretaker pide un memento al originator con CreateMemento. El originator crea el memento y le fija su estado, y lo devuelve; el caretaker lo conserva un tiempo. Para restaurar, el caretaker se lo pasa de vuelta con SetMemento y el originator lee el estado con GetState. A veces el caretaker nunca lo devuelve, porque el originator puede no necesitar volver atrás. Los mementos son pasivos.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Beneficios: preserva los límites del encapsulamiento y simplifica al originator, porque los clientes gestionan las versiones de estado que piden. Costos: puede ser costoso si se copia mucha información o se crean mementos con frecuencia; definir interfaz ancha y estrecha es difícil en algunos lenguajes; y el caretaker debe borrar los mementos sin saber cuánto estado guarda cada uno. Si encapsular y restaurar no es barato, el patrón puede no ser apropiado.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requisito RF-GDA-09 exige mantener un historial de modificaciones y poder restaurar versiones previas; además, la Ley 594 de 2000 y la norma ISO 15489-1 piden registros íntegros e inmutables. Mapeo de participantes: el originator es DocumentoElectronico, que gestiona metadatos y ciclo de vida y crea su snapshot en checkIn; el memento es DocumentoVersionMemento, con versión, metadatos y hash SHA-256; el caretaker es HistorialVersionesService, que custodia la línea de tiempo y, cuando un documento es rechazado en su flujo de revisión, RF-GDA-13, recupera el snapshot previo. Como el volumen documental se estima en decenas de terabytes, el memento no guarda el binario en memoria, sino la URI del Object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Situación: el requisito RF-GDA-09 pide control de versiones, con historial y restauración. DocumentoElectronico es el originator: en checkIn crea el snapshot. DocumentoVersionMemento es el memento: expone hacia afuera solo los metadatos de versión (interfaz estrecha) y getEstadoInterno es de paquete (interfaz ancha). HistorialVersionesService es el caretaker: custodia el historial por documento y hace el rollback cuando un documento es rechazado, RF-GDA-13. El memento no guarda el binario, solo su URI en el Object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pertinente porque RF-GDA-09 exige historial y restauración sin exponer los campos privados del documento. La GoF advierte que los mementos pueden ser costosos; con decenas de terabytes, guardar el binario en memoria no es viable, así que el memento guarda metadatos, hash y la URI del Object Storage. Impacto en la arquitectura: integridad y trazabilidad por el hash, modificabilidad porque el historial no depende de los campos privados, y memoria liviana, con una política de retención en el caretaker.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Usos conocidos del patrón: deshacer y rehacer en editores, historial de cambios en documentos y configuraciones, partidas guardadas en videojuegos y puntos de restauración en sistemas. En el libro, el ejemplo de código se basa en Unidraw, las colecciones de Dylan usan un memento para la iteración y QOCA guarda mementos incrementales. Relacionados: Command, que usa mementos para deshacer, e Iterator, donde los mementos pueden servir para iterar.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Taller: una aplicación de notas con historial de versiones. Primero, identificar originator, memento y caretaker. Segundo, dibujar el diagrama de clases e indicar la interfaz ancha y la estrecha.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Referencias: el catálogo de la GoF como fuente principal y el documento de requisitos del proyecto. Los diagramas son de elaboración propia, basados en los de la GoF cuando corresponde.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Agradecimiento y apertura de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548640" y="1143000"/>
            <a:ext cx="4754880" cy="109728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4" name="Text 1"/>
          <p:cNvSpPr/>
          <p:nvPr>
            <p:ph idx="102" type="body" hasCustomPrompt="1"/>
          </p:nvPr>
        </p:nvSpPr>
        <p:spPr>
          <a:xfrm>
            <a:off x="548640" y="2377440"/>
            <a:ext cx="4572000" cy="109728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tiqueta categoría"/>
          <p:cNvSpPr txBox="1"/>
          <p:nvPr/>
        </p:nvSpPr>
        <p:spPr>
          <a:xfrm>
            <a:off x="548640" y="640080"/>
            <a:ext cx="5120640" cy="274320"/>
          </a:xfrm>
          <a:prstGeom prst="rect">
            <a:avLst/>
          </a:prstGeom>
          <a:noFill/>
          <a:ln/>
        </p:spPr>
        <p:txBody>
          <a:bodyPr wrap="square" lIns="0" tIns="0" rIns="0" bIns="0" rtlCol="0" anchor="ctr"/>
          <a:lstStyle/>
          <a:p>
            <a:pPr indent="0" marL="0">
              <a:buNone/>
            </a:pPr>
            <a:r>
              <a:rPr lang="en-US" sz="1100" b="1" spc="200" kern="0" dirty="0">
                <a:solidFill>
                  <a:schemeClr val="accent5"/>
                </a:solidFill>
              </a:rPr>
              <a:t>PATRONES DE DISEÑO  ·  COMPORTAMIENTO DE OBJETOS</a:t>
            </a:r>
            <a:endParaRPr lang="en-US" sz="1100" dirty="0"/>
          </a:p>
        </p:txBody>
      </p:sp>
      <p:sp>
        <p:nvSpPr>
          <p:cNvPr id="3" name="Text 1"/>
          <p:cNvSpPr/>
          <p:nvPr>
            <p:ph idx="101" type="title" hasCustomPrompt="1"/>
          </p:nvPr>
        </p:nvSpPr>
        <p:spPr>
          <a:xfrm>
            <a:off x="548640" y="1143000"/>
            <a:ext cx="4754880" cy="1097280"/>
          </a:xfrm>
          <a:prstGeom prst="rect">
            <a:avLst/>
          </a:prstGeom>
          <a:noFill/>
          <a:ln/>
        </p:spPr>
        <p:txBody>
          <a:bodyPr wrap="square" lIns="0" tIns="0" rIns="0" bIns="0" rtlCol="0" anchor="t"/>
          <a:lstStyle/>
          <a:p>
            <a:pPr algn="l" indent="0" marL="0">
              <a:buNone/>
            </a:pPr>
            <a:r>
              <a:rPr lang="en-US" sz="6000" b="1" dirty="0">
                <a:solidFill>
                  <a:schemeClr val="bg1"/>
                </a:solidFill>
              </a:rPr>
              <a:t>Memento</a:t>
            </a:r>
            <a:endParaRPr lang="en-US" sz="6000" dirty="0"/>
          </a:p>
        </p:txBody>
      </p:sp>
      <p:sp>
        <p:nvSpPr>
          <p:cNvPr id="4" name="Text 1"/>
          <p:cNvSpPr/>
          <p:nvPr>
            <p:ph idx="102" type="body" hasCustomPrompt="1"/>
          </p:nvPr>
        </p:nvSpPr>
        <p:spPr>
          <a:xfrm>
            <a:off x="548640" y="2377440"/>
            <a:ext cx="4572000" cy="1097280"/>
          </a:xfrm>
          <a:prstGeom prst="rect">
            <a:avLst/>
          </a:prstGeom>
          <a:noFill/>
          <a:ln/>
        </p:spPr>
        <p:txBody>
          <a:bodyPr wrap="square" lIns="0" tIns="0" rIns="0" bIns="0" rtlCol="0" anchor="t"/>
          <a:lstStyle/>
          <a:p>
            <a:pPr algn="l" indent="0" marL="0">
              <a:buNone/>
            </a:pPr>
            <a:r>
              <a:rPr lang="en-US" sz="1800" dirty="0">
                <a:solidFill>
                  <a:schemeClr val="bg2"/>
                </a:solidFill>
              </a:rPr>
              <a:t>Capturar y restaurar el estado de un objeto sin romper su encapsulamiento</a:t>
            </a:r>
            <a:endParaRPr lang="en-US" sz="1800" dirty="0"/>
          </a:p>
        </p:txBody>
      </p:sp>
      <p:sp>
        <p:nvSpPr>
          <p:cNvPr id="5" name="Alias"/>
          <p:cNvSpPr txBox="1"/>
          <p:nvPr/>
        </p:nvSpPr>
        <p:spPr>
          <a:xfrm>
            <a:off x="548640" y="3520440"/>
            <a:ext cx="4572000" cy="274320"/>
          </a:xfrm>
          <a:prstGeom prst="rect">
            <a:avLst/>
          </a:prstGeom>
          <a:noFill/>
          <a:ln/>
        </p:spPr>
        <p:txBody>
          <a:bodyPr wrap="square" lIns="0" tIns="0" rIns="0" bIns="0" rtlCol="0" anchor="ctr"/>
          <a:lstStyle/>
          <a:p>
            <a:pPr indent="0" marL="0">
              <a:buNone/>
            </a:pPr>
            <a:r>
              <a:rPr lang="en-US" sz="1400" i="1" dirty="0">
                <a:solidFill>
                  <a:schemeClr val="accent2"/>
                </a:solidFill>
              </a:rPr>
              <a:t>También conocido como: Token</a:t>
            </a:r>
            <a:endParaRPr lang="en-US" sz="1400" dirty="0"/>
          </a:p>
        </p:txBody>
      </p:sp>
      <p:sp>
        <p:nvSpPr>
          <p:cNvPr id="6" name="Curso e integrantes"/>
          <p:cNvSpPr txBox="1"/>
          <p:nvPr/>
        </p:nvSpPr>
        <p:spPr>
          <a:xfrm>
            <a:off x="548640" y="4114800"/>
            <a:ext cx="4937760" cy="594360"/>
          </a:xfrm>
          <a:prstGeom prst="rect">
            <a:avLst/>
          </a:prstGeom>
          <a:noFill/>
          <a:ln/>
        </p:spPr>
        <p:txBody>
          <a:bodyPr wrap="square" lIns="0" tIns="0" rIns="0" bIns="0" rtlCol="0" anchor="t"/>
          <a:lstStyle/>
          <a:p>
            <a:pPr indent="0" marL="0">
              <a:buNone/>
            </a:pPr>
            <a:r>
              <a:rPr lang="en-US" sz="1400" dirty="0">
                <a:solidFill>
                  <a:schemeClr val="bg1"/>
                </a:solidFill>
              </a:rPr>
              <a:t>Arquitectura de Software — VIII Semestre</a:t>
            </a:r>
            <a:endParaRPr lang="en-US" sz="1400" dirty="0"/>
          </a:p>
          <a:p>
            <a:pPr indent="0" marL="0">
              <a:buNone/>
            </a:pPr>
            <a:r>
              <a:rPr lang="en-US" sz="1400" dirty="0">
                <a:solidFill>
                  <a:schemeClr val="bg1"/>
                </a:solidFill>
              </a:rPr>
              <a:t>William de Jesús Peñaranda Torres</a:t>
            </a:r>
            <a:endParaRPr lang="en-US" sz="1400" dirty="0"/>
          </a:p>
        </p:txBody>
      </p:sp>
      <p:sp>
        <p:nvSpPr>
          <p:cNvPr id="7" name="Instantánea 1"/>
          <p:cNvSpPr/>
          <p:nvPr/>
        </p:nvSpPr>
        <p:spPr>
          <a:xfrm>
            <a:off x="5577840" y="1188720"/>
            <a:ext cx="2468880" cy="1371600"/>
          </a:xfrm>
          <a:prstGeom prst="roundRect">
            <a:avLst>
              <a:gd name="adj" fmla="val 10000"/>
            </a:avLst>
          </a:prstGeom>
          <a:solidFill>
            <a:schemeClr val="accent5"/>
          </a:solidFill>
          <a:ln w="19050">
            <a:solidFill>
              <a:schemeClr val="tx2"/>
            </a:solidFill>
            <a:prstDash val="solid"/>
          </a:ln>
          <a:effectLst>
            <a:outerShdw sx="100000" sy="100000" kx="0" ky="0" algn="bl" rotWithShape="0" blurRad="101600" dist="38100" dir="5400000">
              <a:srgbClr val="000000">
                <a:alpha val="30000"/>
              </a:srgbClr>
            </a:outerShdw>
          </a:effectLst>
        </p:spPr>
      </p:sp>
      <p:sp>
        <p:nvSpPr>
          <p:cNvPr id="8" name="Texto instantánea 1"/>
          <p:cNvSpPr txBox="1"/>
          <p:nvPr/>
        </p:nvSpPr>
        <p:spPr>
          <a:xfrm>
            <a:off x="5806440" y="1298448"/>
            <a:ext cx="2011680" cy="365760"/>
          </a:xfrm>
          <a:prstGeom prst="rect">
            <a:avLst/>
          </a:prstGeom>
          <a:noFill/>
          <a:ln/>
        </p:spPr>
        <p:txBody>
          <a:bodyPr wrap="square" lIns="0" tIns="0" rIns="0" bIns="0" rtlCol="0" anchor="ctr"/>
          <a:lstStyle/>
          <a:p>
            <a:pPr algn="l" indent="0" marL="0">
              <a:buNone/>
            </a:pPr>
            <a:r>
              <a:rPr lang="en-US" sz="1800" b="1" dirty="0">
                <a:solidFill>
                  <a:schemeClr val="tx2"/>
                </a:solidFill>
              </a:rPr>
              <a:t>estado v1</a:t>
            </a:r>
            <a:endParaRPr lang="en-US" sz="1800" dirty="0"/>
          </a:p>
        </p:txBody>
      </p:sp>
      <p:sp>
        <p:nvSpPr>
          <p:cNvPr id="9" name="Instantánea 2"/>
          <p:cNvSpPr/>
          <p:nvPr/>
        </p:nvSpPr>
        <p:spPr>
          <a:xfrm>
            <a:off x="5852160" y="1783080"/>
            <a:ext cx="2468880" cy="1371600"/>
          </a:xfrm>
          <a:prstGeom prst="roundRect">
            <a:avLst>
              <a:gd name="adj" fmla="val 10000"/>
            </a:avLst>
          </a:prstGeom>
          <a:solidFill>
            <a:schemeClr val="accent1"/>
          </a:solidFill>
          <a:ln w="19050">
            <a:solidFill>
              <a:schemeClr val="tx2"/>
            </a:solidFill>
            <a:prstDash val="solid"/>
          </a:ln>
          <a:effectLst>
            <a:outerShdw sx="100000" sy="100000" kx="0" ky="0" algn="bl" rotWithShape="0" blurRad="101600" dist="38100" dir="5400000">
              <a:srgbClr val="000000">
                <a:alpha val="30000"/>
              </a:srgbClr>
            </a:outerShdw>
          </a:effectLst>
        </p:spPr>
      </p:sp>
      <p:sp>
        <p:nvSpPr>
          <p:cNvPr id="10" name="Texto instantánea 2"/>
          <p:cNvSpPr txBox="1"/>
          <p:nvPr/>
        </p:nvSpPr>
        <p:spPr>
          <a:xfrm>
            <a:off x="6080760" y="1892808"/>
            <a:ext cx="2011680" cy="365760"/>
          </a:xfrm>
          <a:prstGeom prst="rect">
            <a:avLst/>
          </a:prstGeom>
          <a:noFill/>
          <a:ln/>
        </p:spPr>
        <p:txBody>
          <a:bodyPr wrap="square" lIns="0" tIns="0" rIns="0" bIns="0" rtlCol="0" anchor="ctr"/>
          <a:lstStyle/>
          <a:p>
            <a:pPr algn="l" indent="0" marL="0">
              <a:buNone/>
            </a:pPr>
            <a:r>
              <a:rPr lang="en-US" sz="1800" b="1" dirty="0">
                <a:solidFill>
                  <a:schemeClr val="bg1"/>
                </a:solidFill>
              </a:rPr>
              <a:t>estado v2</a:t>
            </a:r>
            <a:endParaRPr lang="en-US" sz="1800" dirty="0"/>
          </a:p>
        </p:txBody>
      </p:sp>
      <p:sp>
        <p:nvSpPr>
          <p:cNvPr id="11" name="Instantánea 3"/>
          <p:cNvSpPr/>
          <p:nvPr/>
        </p:nvSpPr>
        <p:spPr>
          <a:xfrm>
            <a:off x="6126480" y="2377440"/>
            <a:ext cx="2468880" cy="1371600"/>
          </a:xfrm>
          <a:prstGeom prst="roundRect">
            <a:avLst>
              <a:gd name="adj" fmla="val 10000"/>
            </a:avLst>
          </a:prstGeom>
          <a:solidFill>
            <a:schemeClr val="accent2"/>
          </a:solidFill>
          <a:ln w="19050">
            <a:solidFill>
              <a:schemeClr val="tx2"/>
            </a:solidFill>
            <a:prstDash val="solid"/>
          </a:ln>
          <a:effectLst>
            <a:outerShdw sx="100000" sy="100000" kx="0" ky="0" algn="bl" rotWithShape="0" blurRad="101600" dist="38100" dir="5400000">
              <a:srgbClr val="000000">
                <a:alpha val="30000"/>
              </a:srgbClr>
            </a:outerShdw>
          </a:effectLst>
        </p:spPr>
      </p:sp>
      <p:sp>
        <p:nvSpPr>
          <p:cNvPr id="12" name="Texto instantánea 3"/>
          <p:cNvSpPr txBox="1"/>
          <p:nvPr/>
        </p:nvSpPr>
        <p:spPr>
          <a:xfrm>
            <a:off x="6355080" y="2487168"/>
            <a:ext cx="2011680" cy="365760"/>
          </a:xfrm>
          <a:prstGeom prst="rect">
            <a:avLst/>
          </a:prstGeom>
          <a:noFill/>
          <a:ln/>
        </p:spPr>
        <p:txBody>
          <a:bodyPr wrap="square" lIns="0" tIns="0" rIns="0" bIns="0" rtlCol="0" anchor="ctr"/>
          <a:lstStyle/>
          <a:p>
            <a:pPr algn="l" indent="0" marL="0">
              <a:buNone/>
            </a:pPr>
            <a:r>
              <a:rPr lang="en-US" sz="1800" b="1" dirty="0">
                <a:solidFill>
                  <a:schemeClr val="tx2"/>
                </a:solidFill>
              </a:rPr>
              <a:t>estado v3</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Propósito y motivación</a:t>
            </a:r>
            <a:endParaRPr lang="en-US" sz="3600" dirty="0"/>
          </a:p>
        </p:txBody>
      </p:sp>
      <p:sp>
        <p:nvSpPr>
          <p:cNvPr id="3" name="Tarjeta propósito"/>
          <p:cNvSpPr/>
          <p:nvPr/>
        </p:nvSpPr>
        <p:spPr>
          <a:xfrm>
            <a:off x="548640" y="1371600"/>
            <a:ext cx="3931920" cy="3108960"/>
          </a:xfrm>
          <a:prstGeom prst="roundRect">
            <a:avLst>
              <a:gd name="adj" fmla="val 3529"/>
            </a:avLst>
          </a:prstGeom>
          <a:solidFill>
            <a:schemeClr val="bg2"/>
          </a:solidFill>
          <a:ln/>
        </p:spPr>
      </p:sp>
      <p:sp>
        <p:nvSpPr>
          <p:cNvPr id="4" name="Etiqueta propósito"/>
          <p:cNvSpPr txBox="1"/>
          <p:nvPr/>
        </p:nvSpPr>
        <p:spPr>
          <a:xfrm>
            <a:off x="822960" y="1554480"/>
            <a:ext cx="3383280" cy="228600"/>
          </a:xfrm>
          <a:prstGeom prst="rect">
            <a:avLst/>
          </a:prstGeom>
          <a:noFill/>
          <a:ln/>
        </p:spPr>
        <p:txBody>
          <a:bodyPr wrap="square" lIns="0" tIns="0" rIns="0" bIns="0" rtlCol="0" anchor="ctr"/>
          <a:lstStyle/>
          <a:p>
            <a:pPr indent="0" marL="0">
              <a:buNone/>
            </a:pPr>
            <a:r>
              <a:rPr lang="en-US" sz="1200" b="1" spc="200" kern="0" dirty="0">
                <a:solidFill>
                  <a:schemeClr val="accent1"/>
                </a:solidFill>
              </a:rPr>
              <a:t>PROPÓSITO</a:t>
            </a:r>
            <a:endParaRPr lang="en-US" sz="1200" dirty="0"/>
          </a:p>
        </p:txBody>
      </p:sp>
      <p:sp>
        <p:nvSpPr>
          <p:cNvPr id="5" name="Texto propósito"/>
          <p:cNvSpPr txBox="1"/>
          <p:nvPr/>
        </p:nvSpPr>
        <p:spPr>
          <a:xfrm>
            <a:off x="822960" y="1828800"/>
            <a:ext cx="3383280" cy="1325880"/>
          </a:xfrm>
          <a:prstGeom prst="rect">
            <a:avLst/>
          </a:prstGeom>
          <a:noFill/>
          <a:ln/>
        </p:spPr>
        <p:txBody>
          <a:bodyPr wrap="square" lIns="0" tIns="0" rIns="0" bIns="0" rtlCol="0" anchor="t"/>
          <a:lstStyle/>
          <a:p>
            <a:pPr indent="0" marL="0">
              <a:buNone/>
            </a:pPr>
            <a:r>
              <a:rPr lang="en-US" sz="1800" b="1" dirty="0">
                <a:solidFill>
                  <a:schemeClr val="tx2"/>
                </a:solidFill>
              </a:rPr>
              <a:t>Capturar y externalizar el estado interno de un objeto, sin violar su encapsulamiento, para poder restaurarlo más tarde.</a:t>
            </a:r>
            <a:endParaRPr lang="en-US" sz="1800" dirty="0"/>
          </a:p>
        </p:txBody>
      </p:sp>
      <p:sp>
        <p:nvSpPr>
          <p:cNvPr id="6" name="Etiqueta tensión"/>
          <p:cNvSpPr txBox="1"/>
          <p:nvPr/>
        </p:nvSpPr>
        <p:spPr>
          <a:xfrm>
            <a:off x="822960" y="3246120"/>
            <a:ext cx="3383280" cy="228600"/>
          </a:xfrm>
          <a:prstGeom prst="rect">
            <a:avLst/>
          </a:prstGeom>
          <a:noFill/>
          <a:ln/>
        </p:spPr>
        <p:txBody>
          <a:bodyPr wrap="square" lIns="0" tIns="0" rIns="0" bIns="0" rtlCol="0" anchor="ctr"/>
          <a:lstStyle/>
          <a:p>
            <a:pPr indent="0" marL="0">
              <a:buNone/>
            </a:pPr>
            <a:r>
              <a:rPr lang="en-US" sz="1200" b="1" spc="200" kern="0" dirty="0">
                <a:solidFill>
                  <a:schemeClr val="accent3"/>
                </a:solidFill>
              </a:rPr>
              <a:t>LA TENSIÓN</a:t>
            </a:r>
            <a:endParaRPr lang="en-US" sz="1200" dirty="0"/>
          </a:p>
        </p:txBody>
      </p:sp>
      <p:sp>
        <p:nvSpPr>
          <p:cNvPr id="7" name="Texto tensión"/>
          <p:cNvSpPr txBox="1"/>
          <p:nvPr/>
        </p:nvSpPr>
        <p:spPr>
          <a:xfrm>
            <a:off x="822960" y="3520440"/>
            <a:ext cx="3383280" cy="777240"/>
          </a:xfrm>
          <a:prstGeom prst="rect">
            <a:avLst/>
          </a:prstGeom>
          <a:noFill/>
          <a:ln/>
        </p:spPr>
        <p:txBody>
          <a:bodyPr wrap="square" lIns="0" tIns="0" rIns="0" bIns="0" rtlCol="0" anchor="t"/>
          <a:lstStyle/>
          <a:p>
            <a:pPr indent="0" marL="0">
              <a:buNone/>
            </a:pPr>
            <a:r>
              <a:rPr lang="en-US" sz="1400" dirty="0">
                <a:solidFill>
                  <a:schemeClr val="tx1"/>
                </a:solidFill>
              </a:rPr>
              <a:t>Para guardar el estado hay que poder verlo, pero exponerlo compromete la fiabilidad y la extensibilidad de la aplicación.</a:t>
            </a:r>
            <a:endParaRPr lang="en-US" sz="1400" dirty="0"/>
          </a:p>
        </p:txBody>
      </p:sp>
      <p:sp>
        <p:nvSpPr>
          <p:cNvPr id="8" name="Etiqueta ejemplo"/>
          <p:cNvSpPr txBox="1"/>
          <p:nvPr/>
        </p:nvSpPr>
        <p:spPr>
          <a:xfrm>
            <a:off x="4846320" y="1371600"/>
            <a:ext cx="3749040" cy="228600"/>
          </a:xfrm>
          <a:prstGeom prst="rect">
            <a:avLst/>
          </a:prstGeom>
          <a:noFill/>
          <a:ln/>
        </p:spPr>
        <p:txBody>
          <a:bodyPr wrap="square" lIns="0" tIns="0" rIns="0" bIns="0" rtlCol="0" anchor="ctr"/>
          <a:lstStyle/>
          <a:p>
            <a:pPr indent="0" marL="0">
              <a:buNone/>
            </a:pPr>
            <a:r>
              <a:rPr lang="en-US" sz="1200" b="1" spc="200" kern="0" dirty="0">
                <a:solidFill>
                  <a:schemeClr val="accent1"/>
                </a:solidFill>
              </a:rPr>
              <a:t>EJEMPLO DE LA GoF: EDITOR GRÁFICO</a:t>
            </a:r>
            <a:endParaRPr lang="en-US" sz="1200" dirty="0"/>
          </a:p>
        </p:txBody>
      </p:sp>
      <p:sp>
        <p:nvSpPr>
          <p:cNvPr id="9" name="Rectángulo A"/>
          <p:cNvSpPr/>
          <p:nvPr/>
        </p:nvSpPr>
        <p:spPr>
          <a:xfrm>
            <a:off x="4937760" y="1783080"/>
            <a:ext cx="1097280" cy="640080"/>
          </a:xfrm>
          <a:prstGeom prst="roundRect">
            <a:avLst>
              <a:gd name="adj" fmla="val 14286"/>
            </a:avLst>
          </a:prstGeom>
          <a:solidFill>
            <a:schemeClr val="accent1"/>
          </a:solidFill>
          <a:ln/>
        </p:spPr>
      </p:sp>
      <p:sp>
        <p:nvSpPr>
          <p:cNvPr id="10" name="Texto rectángulo A"/>
          <p:cNvSpPr txBox="1"/>
          <p:nvPr/>
        </p:nvSpPr>
        <p:spPr>
          <a:xfrm>
            <a:off x="4937760" y="1783080"/>
            <a:ext cx="1097280" cy="640080"/>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11" name="Rectángulo B"/>
          <p:cNvSpPr/>
          <p:nvPr/>
        </p:nvSpPr>
        <p:spPr>
          <a:xfrm>
            <a:off x="7498080" y="1783080"/>
            <a:ext cx="1097280" cy="640080"/>
          </a:xfrm>
          <a:prstGeom prst="roundRect">
            <a:avLst>
              <a:gd name="adj" fmla="val 14286"/>
            </a:avLst>
          </a:prstGeom>
          <a:solidFill>
            <a:schemeClr val="accent1"/>
          </a:solidFill>
          <a:ln/>
        </p:spPr>
      </p:sp>
      <p:sp>
        <p:nvSpPr>
          <p:cNvPr id="12" name="Texto rectángulo B"/>
          <p:cNvSpPr txBox="1"/>
          <p:nvPr/>
        </p:nvSpPr>
        <p:spPr>
          <a:xfrm>
            <a:off x="7498080" y="1783080"/>
            <a:ext cx="1097280" cy="640080"/>
          </a:xfrm>
          <a:prstGeom prst="rect">
            <a:avLst/>
          </a:prstGeom>
          <a:no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3" name="Línea de conexión"/>
          <p:cNvSpPr/>
          <p:nvPr/>
        </p:nvSpPr>
        <p:spPr>
          <a:xfrm>
            <a:off x="6035040" y="2103120"/>
            <a:ext cx="1463040" cy="0"/>
          </a:xfrm>
          <a:prstGeom prst="line">
            <a:avLst/>
          </a:prstGeom>
          <a:noFill/>
          <a:ln w="31750">
            <a:solidFill>
              <a:schemeClr val="accent4"/>
            </a:solidFill>
            <a:prstDash val="solid"/>
          </a:ln>
        </p:spPr>
      </p:sp>
      <p:sp>
        <p:nvSpPr>
          <p:cNvPr id="14" name="Pie del diagrama"/>
          <p:cNvSpPr txBox="1"/>
          <p:nvPr/>
        </p:nvSpPr>
        <p:spPr>
          <a:xfrm>
            <a:off x="4846320" y="2514600"/>
            <a:ext cx="3749040" cy="411480"/>
          </a:xfrm>
          <a:prstGeom prst="rect">
            <a:avLst/>
          </a:prstGeom>
          <a:noFill/>
          <a:ln/>
        </p:spPr>
        <p:txBody>
          <a:bodyPr wrap="square" lIns="0" tIns="0" rIns="0" bIns="0" rtlCol="0" anchor="t"/>
          <a:lstStyle/>
          <a:p>
            <a:pPr indent="0" marL="0">
              <a:buNone/>
            </a:pPr>
            <a:r>
              <a:rPr lang="en-US" sz="1200" dirty="0">
                <a:solidFill>
                  <a:schemeClr val="accent6"/>
                </a:solidFill>
              </a:rPr>
              <a:t>A y B siguen conectados cuando se mueve cualquiera; un ConstraintSolver mantiene la relación.</a:t>
            </a:r>
            <a:endParaRPr lang="en-US" sz="1200" dirty="0"/>
          </a:p>
        </p:txBody>
      </p:sp>
      <p:sp>
        <p:nvSpPr>
          <p:cNvPr id="15" name="Tarjeta problema deshacer"/>
          <p:cNvSpPr/>
          <p:nvPr/>
        </p:nvSpPr>
        <p:spPr>
          <a:xfrm>
            <a:off x="4846320" y="3063240"/>
            <a:ext cx="3749040" cy="1417320"/>
          </a:xfrm>
          <a:prstGeom prst="roundRect">
            <a:avLst>
              <a:gd name="adj" fmla="val 7742"/>
            </a:avLst>
          </a:prstGeom>
          <a:solidFill>
            <a:schemeClr val="accent2">
              <a:alpha val="20000"/>
            </a:schemeClr>
          </a:solidFill>
          <a:ln/>
        </p:spPr>
      </p:sp>
      <p:sp>
        <p:nvSpPr>
          <p:cNvPr id="16" name="Texto problema deshacer"/>
          <p:cNvSpPr txBox="1"/>
          <p:nvPr/>
        </p:nvSpPr>
        <p:spPr>
          <a:xfrm>
            <a:off x="5029200" y="3154680"/>
            <a:ext cx="3383280" cy="1234440"/>
          </a:xfrm>
          <a:prstGeom prst="rect">
            <a:avLst/>
          </a:prstGeom>
          <a:noFill/>
          <a:ln/>
        </p:spPr>
        <p:txBody>
          <a:bodyPr wrap="square" lIns="0" tIns="0" rIns="0" bIns="0" rtlCol="0" anchor="ctr"/>
          <a:lstStyle/>
          <a:p>
            <a:pPr indent="0" marL="0">
              <a:spcAft>
                <a:spcPts val="600"/>
              </a:spcAft>
              <a:buNone/>
            </a:pPr>
            <a:r>
              <a:rPr lang="en-US" sz="1400" dirty="0">
                <a:solidFill>
                  <a:schemeClr val="tx1"/>
                </a:solidFill>
              </a:rPr>
              <a:t>Deshacer no es mover la misma distancia en sentido contrario: con holgura en la conexión, los objetos no vuelven a donde estaban.</a:t>
            </a:r>
            <a:endParaRPr lang="en-US" sz="1400" dirty="0"/>
          </a:p>
          <a:p>
            <a:pPr indent="0" marL="0">
              <a:buNone/>
            </a:pPr>
            <a:r>
              <a:rPr lang="en-US" sz="1400" b="1" dirty="0">
                <a:solidFill>
                  <a:schemeClr val="tx1"/>
                </a:solidFill>
              </a:rPr>
              <a:t>Hay que restaurar el estado interno del solucionador.</a:t>
            </a:r>
            <a:endParaRPr lang="en-US" sz="1400" dirty="0"/>
          </a:p>
        </p:txBody>
      </p:sp>
      <p:sp>
        <p:nvSpPr>
          <p:cNvPr id="17" name="Fuente"/>
          <p:cNvSpPr txBox="1"/>
          <p:nvPr/>
        </p:nvSpPr>
        <p:spPr>
          <a:xfrm>
            <a:off x="548640" y="4663440"/>
            <a:ext cx="8046720" cy="228600"/>
          </a:xfrm>
          <a:prstGeom prst="rect">
            <a:avLst/>
          </a:prstGeom>
          <a:noFill/>
          <a:ln/>
        </p:spPr>
        <p:txBody>
          <a:bodyPr wrap="square" lIns="0" tIns="0" rIns="0" bIns="0" rtlCol="0" anchor="ctr"/>
          <a:lstStyle/>
          <a:p>
            <a:pPr indent="0" marL="0">
              <a:buNone/>
            </a:pPr>
            <a:r>
              <a:rPr lang="en-US" sz="1000" dirty="0">
                <a:solidFill>
                  <a:schemeClr val="accent6"/>
                </a:solidFill>
              </a:rPr>
              <a:t>Fuente: Gamma, Helm, Johnson y Vlissides (1994). Design Patterns, capítulo Memento.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Cómo lo resuelve el Memento</a:t>
            </a:r>
            <a:endParaRPr lang="en-US" sz="3600" dirty="0"/>
          </a:p>
        </p:txBody>
      </p:sp>
      <p:sp>
        <p:nvSpPr>
          <p:cNvPr id="3" name="Tarjeta paso 1"/>
          <p:cNvSpPr/>
          <p:nvPr/>
        </p:nvSpPr>
        <p:spPr>
          <a:xfrm>
            <a:off x="548640" y="1371600"/>
            <a:ext cx="1828800" cy="2103120"/>
          </a:xfrm>
          <a:prstGeom prst="roundRect">
            <a:avLst>
              <a:gd name="adj" fmla="val 6000"/>
            </a:avLst>
          </a:prstGeom>
          <a:solidFill>
            <a:schemeClr val="bg2"/>
          </a:solidFill>
          <a:ln/>
        </p:spPr>
      </p:sp>
      <p:sp>
        <p:nvSpPr>
          <p:cNvPr id="4" name="Círculo paso 1"/>
          <p:cNvSpPr/>
          <p:nvPr/>
        </p:nvSpPr>
        <p:spPr>
          <a:xfrm>
            <a:off x="685800" y="1508760"/>
            <a:ext cx="457200" cy="457200"/>
          </a:xfrm>
          <a:prstGeom prst="ellipse">
            <a:avLst/>
          </a:prstGeom>
          <a:solidFill>
            <a:schemeClr val="accent4"/>
          </a:solidFill>
          <a:ln/>
        </p:spPr>
      </p:sp>
      <p:sp>
        <p:nvSpPr>
          <p:cNvPr id="5" name="Número paso 1"/>
          <p:cNvSpPr txBox="1"/>
          <p:nvPr/>
        </p:nvSpPr>
        <p:spPr>
          <a:xfrm>
            <a:off x="68580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ítulo paso 1"/>
          <p:cNvSpPr txBox="1"/>
          <p:nvPr/>
        </p:nvSpPr>
        <p:spPr>
          <a:xfrm>
            <a:off x="685800" y="2057400"/>
            <a:ext cx="1600200" cy="320040"/>
          </a:xfrm>
          <a:prstGeom prst="rect">
            <a:avLst/>
          </a:prstGeom>
          <a:noFill/>
          <a:ln/>
        </p:spPr>
        <p:txBody>
          <a:bodyPr wrap="square" lIns="0" tIns="0" rIns="0" bIns="0" rtlCol="0" anchor="ctr"/>
          <a:lstStyle/>
          <a:p>
            <a:pPr indent="0" marL="0">
              <a:buNone/>
            </a:pPr>
            <a:r>
              <a:rPr lang="en-US" sz="1600" b="1" dirty="0">
                <a:solidFill>
                  <a:schemeClr val="tx2"/>
                </a:solidFill>
              </a:rPr>
              <a:t>Editor pide</a:t>
            </a:r>
            <a:endParaRPr lang="en-US" sz="1600" dirty="0"/>
          </a:p>
        </p:txBody>
      </p:sp>
      <p:sp>
        <p:nvSpPr>
          <p:cNvPr id="7" name="Texto paso 1"/>
          <p:cNvSpPr txBox="1"/>
          <p:nvPr/>
        </p:nvSpPr>
        <p:spPr>
          <a:xfrm>
            <a:off x="685800" y="2423160"/>
            <a:ext cx="1554480" cy="960120"/>
          </a:xfrm>
          <a:prstGeom prst="rect">
            <a:avLst/>
          </a:prstGeom>
          <a:noFill/>
          <a:ln/>
        </p:spPr>
        <p:txBody>
          <a:bodyPr wrap="square" lIns="0" tIns="0" rIns="0" bIns="0" rtlCol="0" anchor="t"/>
          <a:lstStyle/>
          <a:p>
            <a:pPr indent="0" marL="0">
              <a:buNone/>
            </a:pPr>
            <a:r>
              <a:rPr lang="en-US" sz="1400" dirty="0">
                <a:solidFill>
                  <a:schemeClr val="tx1"/>
                </a:solidFill>
              </a:rPr>
              <a:t>Al mover un objeto, el editor solicita un memento al ConstraintSolver.</a:t>
            </a:r>
            <a:endParaRPr lang="en-US" sz="1400" dirty="0"/>
          </a:p>
        </p:txBody>
      </p:sp>
      <p:sp>
        <p:nvSpPr>
          <p:cNvPr id="8" name="Tarjeta paso 2"/>
          <p:cNvSpPr/>
          <p:nvPr/>
        </p:nvSpPr>
        <p:spPr>
          <a:xfrm>
            <a:off x="2621310" y="1371600"/>
            <a:ext cx="1828800" cy="2103120"/>
          </a:xfrm>
          <a:prstGeom prst="roundRect">
            <a:avLst>
              <a:gd name="adj" fmla="val 6000"/>
            </a:avLst>
          </a:prstGeom>
          <a:solidFill>
            <a:schemeClr val="bg2"/>
          </a:solidFill>
          <a:ln/>
        </p:spPr>
      </p:sp>
      <p:sp>
        <p:nvSpPr>
          <p:cNvPr id="9" name="Círculo paso 2"/>
          <p:cNvSpPr/>
          <p:nvPr/>
        </p:nvSpPr>
        <p:spPr>
          <a:xfrm>
            <a:off x="2758470" y="1508760"/>
            <a:ext cx="457200" cy="457200"/>
          </a:xfrm>
          <a:prstGeom prst="ellipse">
            <a:avLst/>
          </a:prstGeom>
          <a:solidFill>
            <a:schemeClr val="accent1"/>
          </a:solidFill>
          <a:ln/>
        </p:spPr>
      </p:sp>
      <p:sp>
        <p:nvSpPr>
          <p:cNvPr id="10" name="Número paso 2"/>
          <p:cNvSpPr txBox="1"/>
          <p:nvPr/>
        </p:nvSpPr>
        <p:spPr>
          <a:xfrm>
            <a:off x="275847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ítulo paso 2"/>
          <p:cNvSpPr txBox="1"/>
          <p:nvPr/>
        </p:nvSpPr>
        <p:spPr>
          <a:xfrm>
            <a:off x="2758470" y="2057400"/>
            <a:ext cx="1600200" cy="320040"/>
          </a:xfrm>
          <a:prstGeom prst="rect">
            <a:avLst/>
          </a:prstGeom>
          <a:noFill/>
          <a:ln/>
        </p:spPr>
        <p:txBody>
          <a:bodyPr wrap="square" lIns="0" tIns="0" rIns="0" bIns="0" rtlCol="0" anchor="ctr"/>
          <a:lstStyle/>
          <a:p>
            <a:pPr indent="0" marL="0">
              <a:buNone/>
            </a:pPr>
            <a:r>
              <a:rPr lang="en-US" sz="1600" b="1" dirty="0">
                <a:solidFill>
                  <a:schemeClr val="tx2"/>
                </a:solidFill>
              </a:rPr>
              <a:t>Solver crea</a:t>
            </a:r>
            <a:endParaRPr lang="en-US" sz="1600" dirty="0"/>
          </a:p>
        </p:txBody>
      </p:sp>
      <p:sp>
        <p:nvSpPr>
          <p:cNvPr id="12" name="Texto paso 2"/>
          <p:cNvSpPr txBox="1"/>
          <p:nvPr/>
        </p:nvSpPr>
        <p:spPr>
          <a:xfrm>
            <a:off x="2758470" y="2423160"/>
            <a:ext cx="1554480" cy="960120"/>
          </a:xfrm>
          <a:prstGeom prst="rect">
            <a:avLst/>
          </a:prstGeom>
          <a:noFill/>
          <a:ln/>
        </p:spPr>
        <p:txBody>
          <a:bodyPr wrap="square" lIns="0" tIns="0" rIns="0" bIns="0" rtlCol="0" anchor="t"/>
          <a:lstStyle/>
          <a:p>
            <a:pPr indent="0" marL="0">
              <a:buNone/>
            </a:pPr>
            <a:r>
              <a:rPr lang="en-US" sz="1400" dirty="0">
                <a:solidFill>
                  <a:schemeClr val="tx1"/>
                </a:solidFill>
              </a:rPr>
              <a:t>Crea y devuelve un SolverState con sus ecuaciones y variables actuales.</a:t>
            </a:r>
            <a:endParaRPr lang="en-US" sz="1400" dirty="0"/>
          </a:p>
        </p:txBody>
      </p:sp>
      <p:sp>
        <p:nvSpPr>
          <p:cNvPr id="13" name="Tarjeta paso 3"/>
          <p:cNvSpPr/>
          <p:nvPr/>
        </p:nvSpPr>
        <p:spPr>
          <a:xfrm>
            <a:off x="4693981" y="1371600"/>
            <a:ext cx="1828800" cy="2103120"/>
          </a:xfrm>
          <a:prstGeom prst="roundRect">
            <a:avLst>
              <a:gd name="adj" fmla="val 6000"/>
            </a:avLst>
          </a:prstGeom>
          <a:solidFill>
            <a:schemeClr val="bg2"/>
          </a:solidFill>
          <a:ln/>
        </p:spPr>
      </p:sp>
      <p:sp>
        <p:nvSpPr>
          <p:cNvPr id="14" name="Círculo paso 3"/>
          <p:cNvSpPr/>
          <p:nvPr/>
        </p:nvSpPr>
        <p:spPr>
          <a:xfrm>
            <a:off x="4831141" y="1508760"/>
            <a:ext cx="457200" cy="457200"/>
          </a:xfrm>
          <a:prstGeom prst="ellipse">
            <a:avLst/>
          </a:prstGeom>
          <a:solidFill>
            <a:schemeClr val="accent4"/>
          </a:solidFill>
          <a:ln/>
        </p:spPr>
      </p:sp>
      <p:sp>
        <p:nvSpPr>
          <p:cNvPr id="15" name="Número paso 3"/>
          <p:cNvSpPr txBox="1"/>
          <p:nvPr/>
        </p:nvSpPr>
        <p:spPr>
          <a:xfrm>
            <a:off x="4831141"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ítulo paso 3"/>
          <p:cNvSpPr txBox="1"/>
          <p:nvPr/>
        </p:nvSpPr>
        <p:spPr>
          <a:xfrm>
            <a:off x="4831141" y="2057400"/>
            <a:ext cx="1600200" cy="320040"/>
          </a:xfrm>
          <a:prstGeom prst="rect">
            <a:avLst/>
          </a:prstGeom>
          <a:noFill/>
          <a:ln/>
        </p:spPr>
        <p:txBody>
          <a:bodyPr wrap="square" lIns="0" tIns="0" rIns="0" bIns="0" rtlCol="0" anchor="ctr"/>
          <a:lstStyle/>
          <a:p>
            <a:pPr indent="0" marL="0">
              <a:buNone/>
            </a:pPr>
            <a:r>
              <a:rPr lang="en-US" sz="1600" b="1" dirty="0">
                <a:solidFill>
                  <a:schemeClr val="tx2"/>
                </a:solidFill>
              </a:rPr>
              <a:t>Editor devuelve</a:t>
            </a:r>
            <a:endParaRPr lang="en-US" sz="1600" dirty="0"/>
          </a:p>
        </p:txBody>
      </p:sp>
      <p:sp>
        <p:nvSpPr>
          <p:cNvPr id="17" name="Texto paso 3"/>
          <p:cNvSpPr txBox="1"/>
          <p:nvPr/>
        </p:nvSpPr>
        <p:spPr>
          <a:xfrm>
            <a:off x="4831141" y="2423160"/>
            <a:ext cx="1554480" cy="960120"/>
          </a:xfrm>
          <a:prstGeom prst="rect">
            <a:avLst/>
          </a:prstGeom>
          <a:noFill/>
          <a:ln/>
        </p:spPr>
        <p:txBody>
          <a:bodyPr wrap="square" lIns="0" tIns="0" rIns="0" bIns="0" rtlCol="0" anchor="t"/>
          <a:lstStyle/>
          <a:p>
            <a:pPr indent="0" marL="0">
              <a:buNone/>
            </a:pPr>
            <a:r>
              <a:rPr lang="en-US" sz="1400" dirty="0">
                <a:solidFill>
                  <a:schemeClr val="tx1"/>
                </a:solidFill>
              </a:rPr>
              <a:t>Al deshacer, el editor entrega el SolverState al ConstraintSolver.</a:t>
            </a:r>
            <a:endParaRPr lang="en-US" sz="1400" dirty="0"/>
          </a:p>
        </p:txBody>
      </p:sp>
      <p:sp>
        <p:nvSpPr>
          <p:cNvPr id="18" name="Tarjeta paso 4"/>
          <p:cNvSpPr/>
          <p:nvPr/>
        </p:nvSpPr>
        <p:spPr>
          <a:xfrm>
            <a:off x="6766651" y="1371600"/>
            <a:ext cx="1828800" cy="2103120"/>
          </a:xfrm>
          <a:prstGeom prst="roundRect">
            <a:avLst>
              <a:gd name="adj" fmla="val 6000"/>
            </a:avLst>
          </a:prstGeom>
          <a:solidFill>
            <a:schemeClr val="bg2"/>
          </a:solidFill>
          <a:ln/>
        </p:spPr>
      </p:sp>
      <p:sp>
        <p:nvSpPr>
          <p:cNvPr id="19" name="Círculo paso 4"/>
          <p:cNvSpPr/>
          <p:nvPr/>
        </p:nvSpPr>
        <p:spPr>
          <a:xfrm>
            <a:off x="6903811" y="1508760"/>
            <a:ext cx="457200" cy="457200"/>
          </a:xfrm>
          <a:prstGeom prst="ellipse">
            <a:avLst/>
          </a:prstGeom>
          <a:solidFill>
            <a:schemeClr val="accent1"/>
          </a:solidFill>
          <a:ln/>
        </p:spPr>
      </p:sp>
      <p:sp>
        <p:nvSpPr>
          <p:cNvPr id="20" name="Número paso 4"/>
          <p:cNvSpPr txBox="1"/>
          <p:nvPr/>
        </p:nvSpPr>
        <p:spPr>
          <a:xfrm>
            <a:off x="6903811"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ítulo paso 4"/>
          <p:cNvSpPr txBox="1"/>
          <p:nvPr/>
        </p:nvSpPr>
        <p:spPr>
          <a:xfrm>
            <a:off x="6903811" y="2057400"/>
            <a:ext cx="1600200" cy="320040"/>
          </a:xfrm>
          <a:prstGeom prst="rect">
            <a:avLst/>
          </a:prstGeom>
          <a:noFill/>
          <a:ln/>
        </p:spPr>
        <p:txBody>
          <a:bodyPr wrap="square" lIns="0" tIns="0" rIns="0" bIns="0" rtlCol="0" anchor="ctr"/>
          <a:lstStyle/>
          <a:p>
            <a:pPr indent="0" marL="0">
              <a:buNone/>
            </a:pPr>
            <a:r>
              <a:rPr lang="en-US" sz="1600" b="1" dirty="0">
                <a:solidFill>
                  <a:schemeClr val="tx2"/>
                </a:solidFill>
              </a:rPr>
              <a:t>Solver restaura</a:t>
            </a:r>
            <a:endParaRPr lang="en-US" sz="1600" dirty="0"/>
          </a:p>
        </p:txBody>
      </p:sp>
      <p:sp>
        <p:nvSpPr>
          <p:cNvPr id="22" name="Texto paso 4"/>
          <p:cNvSpPr txBox="1"/>
          <p:nvPr/>
        </p:nvSpPr>
        <p:spPr>
          <a:xfrm>
            <a:off x="6903811" y="2423160"/>
            <a:ext cx="1554480" cy="960120"/>
          </a:xfrm>
          <a:prstGeom prst="rect">
            <a:avLst/>
          </a:prstGeom>
          <a:noFill/>
          <a:ln/>
        </p:spPr>
        <p:txBody>
          <a:bodyPr wrap="square" lIns="0" tIns="0" rIns="0" bIns="0" rtlCol="0" anchor="t"/>
          <a:lstStyle/>
          <a:p>
            <a:pPr indent="0" marL="0">
              <a:buNone/>
            </a:pPr>
            <a:r>
              <a:rPr lang="en-US" sz="1400" dirty="0">
                <a:solidFill>
                  <a:schemeClr val="tx1"/>
                </a:solidFill>
              </a:rPr>
              <a:t>Con esa información, vuelve a su estado interno exacto anterior.</a:t>
            </a:r>
            <a:endParaRPr lang="en-US" sz="1400" dirty="0"/>
          </a:p>
        </p:txBody>
      </p:sp>
      <p:sp>
        <p:nvSpPr>
          <p:cNvPr id="23" name="Banner conclusión"/>
          <p:cNvSpPr/>
          <p:nvPr/>
        </p:nvSpPr>
        <p:spPr>
          <a:xfrm>
            <a:off x="548640" y="3611880"/>
            <a:ext cx="8046720" cy="914400"/>
          </a:xfrm>
          <a:prstGeom prst="roundRect">
            <a:avLst>
              <a:gd name="adj" fmla="val 12000"/>
            </a:avLst>
          </a:prstGeom>
          <a:solidFill>
            <a:schemeClr val="tx2"/>
          </a:solidFill>
          <a:ln/>
        </p:spPr>
      </p:sp>
      <p:sp>
        <p:nvSpPr>
          <p:cNvPr id="24" name="Texto banner"/>
          <p:cNvSpPr txBox="1"/>
          <p:nvPr/>
        </p:nvSpPr>
        <p:spPr>
          <a:xfrm>
            <a:off x="777240" y="3657600"/>
            <a:ext cx="7589520" cy="822960"/>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El memento es opaco: solo el originator puede guardar y leer su contenido.</a:t>
            </a:r>
            <a:endParaRPr lang="en-US" sz="1600" dirty="0"/>
          </a:p>
          <a:p>
            <a:pPr indent="0" marL="0">
              <a:buNone/>
            </a:pPr>
            <a:r>
              <a:rPr lang="en-US" sz="1400" dirty="0">
                <a:solidFill>
                  <a:schemeClr val="accent2"/>
                </a:solidFill>
              </a:rPr>
              <a:t>ConstraintSolver = originator  ·  SolverState = memento  ·  editor (deshacer) = caretaker</a:t>
            </a:r>
            <a:endParaRPr lang="en-US" sz="1600" dirty="0"/>
          </a:p>
        </p:txBody>
      </p:sp>
      <p:sp>
        <p:nvSpPr>
          <p:cNvPr id="25" name="Fuente"/>
          <p:cNvSpPr txBox="1"/>
          <p:nvPr/>
        </p:nvSpPr>
        <p:spPr>
          <a:xfrm>
            <a:off x="548640" y="4663440"/>
            <a:ext cx="8046720" cy="228600"/>
          </a:xfrm>
          <a:prstGeom prst="rect">
            <a:avLst/>
          </a:prstGeom>
          <a:noFill/>
          <a:ln/>
        </p:spPr>
        <p:txBody>
          <a:bodyPr wrap="square" lIns="0" tIns="0" rIns="0" bIns="0" rtlCol="0" anchor="ctr"/>
          <a:lstStyle/>
          <a:p>
            <a:pPr indent="0" marL="0">
              <a:buNone/>
            </a:pPr>
            <a:r>
              <a:rPr lang="en-US" sz="1000" dirty="0">
                <a:solidFill>
                  <a:schemeClr val="accent6"/>
                </a:solidFill>
              </a:rPr>
              <a:t>Fuente: Gamma, Helm, Johnson y Vlissides (1994). Design Patterns, capítulo Memento.</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Aplicabilidad</a:t>
            </a:r>
            <a:endParaRPr lang="en-US" sz="3600" dirty="0"/>
          </a:p>
        </p:txBody>
      </p:sp>
      <p:sp>
        <p:nvSpPr>
          <p:cNvPr id="3" name="Tarjeta condición 1"/>
          <p:cNvSpPr/>
          <p:nvPr/>
        </p:nvSpPr>
        <p:spPr>
          <a:xfrm>
            <a:off x="548640" y="1371600"/>
            <a:ext cx="3749040" cy="2286000"/>
          </a:xfrm>
          <a:prstGeom prst="roundRect">
            <a:avLst>
              <a:gd name="adj" fmla="val 4800"/>
            </a:avLst>
          </a:prstGeom>
          <a:solidFill>
            <a:schemeClr val="bg2"/>
          </a:solidFill>
          <a:ln/>
        </p:spPr>
      </p:sp>
      <p:sp>
        <p:nvSpPr>
          <p:cNvPr id="4" name="Etiqueta CONDICIÓN 1"/>
          <p:cNvSpPr txBox="1"/>
          <p:nvPr/>
        </p:nvSpPr>
        <p:spPr>
          <a:xfrm>
            <a:off x="822960" y="1600200"/>
            <a:ext cx="320040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CONDICIÓN 1</a:t>
            </a:r>
            <a:endParaRPr lang="en-US" sz="1200" dirty="0"/>
          </a:p>
        </p:txBody>
      </p:sp>
      <p:sp>
        <p:nvSpPr>
          <p:cNvPr id="5" name="Texto condición 1"/>
          <p:cNvSpPr txBox="1"/>
          <p:nvPr/>
        </p:nvSpPr>
        <p:spPr>
          <a:xfrm>
            <a:off x="822960" y="1965960"/>
            <a:ext cx="3200400" cy="1554480"/>
          </a:xfrm>
          <a:prstGeom prst="rect">
            <a:avLst/>
          </a:prstGeom>
          <a:noFill/>
          <a:ln/>
        </p:spPr>
        <p:txBody>
          <a:bodyPr wrap="square" lIns="0" tIns="0" rIns="0" bIns="0" rtlCol="0" anchor="t"/>
          <a:lstStyle/>
          <a:p>
            <a:pPr indent="0" marL="0">
              <a:buNone/>
            </a:pPr>
            <a:r>
              <a:rPr lang="en-US" sz="1600" b="1" dirty="0">
                <a:solidFill>
                  <a:schemeClr val="tx2"/>
                </a:solidFill>
              </a:rPr>
              <a:t>Se debe guardar una instantánea del estado de un objeto (o de parte de él) para poder restaurarlo más tarde.</a:t>
            </a:r>
            <a:endParaRPr lang="en-US" sz="1600" dirty="0"/>
          </a:p>
        </p:txBody>
      </p:sp>
      <p:sp>
        <p:nvSpPr>
          <p:cNvPr id="6" name="Tarjeta condición 2"/>
          <p:cNvSpPr/>
          <p:nvPr/>
        </p:nvSpPr>
        <p:spPr>
          <a:xfrm>
            <a:off x="4846320" y="1371600"/>
            <a:ext cx="3749040" cy="2286000"/>
          </a:xfrm>
          <a:prstGeom prst="roundRect">
            <a:avLst>
              <a:gd name="adj" fmla="val 4800"/>
            </a:avLst>
          </a:prstGeom>
          <a:solidFill>
            <a:schemeClr val="bg2"/>
          </a:solidFill>
          <a:ln/>
        </p:spPr>
      </p:sp>
      <p:sp>
        <p:nvSpPr>
          <p:cNvPr id="7" name="Etiqueta CONDICIÓN 2"/>
          <p:cNvSpPr txBox="1"/>
          <p:nvPr/>
        </p:nvSpPr>
        <p:spPr>
          <a:xfrm>
            <a:off x="5120640" y="1600200"/>
            <a:ext cx="3200400" cy="228600"/>
          </a:xfrm>
          <a:prstGeom prst="rect">
            <a:avLst/>
          </a:prstGeom>
          <a:noFill/>
          <a:ln/>
        </p:spPr>
        <p:txBody>
          <a:bodyPr wrap="square" lIns="0" tIns="0" rIns="0" bIns="0" rtlCol="0" anchor="t"/>
          <a:lstStyle/>
          <a:p>
            <a:pPr indent="0" marL="0">
              <a:buNone/>
            </a:pPr>
            <a:r>
              <a:rPr lang="en-US" sz="1200" b="1" spc="200" kern="0" dirty="0">
                <a:solidFill>
                  <a:schemeClr val="accent3"/>
                </a:solidFill>
              </a:rPr>
              <a:t>CONDICIÓN 2</a:t>
            </a:r>
            <a:endParaRPr lang="en-US" sz="1200" dirty="0"/>
          </a:p>
        </p:txBody>
      </p:sp>
      <p:sp>
        <p:nvSpPr>
          <p:cNvPr id="8" name="Texto condición 2"/>
          <p:cNvSpPr txBox="1"/>
          <p:nvPr/>
        </p:nvSpPr>
        <p:spPr>
          <a:xfrm>
            <a:off x="5120640" y="1965960"/>
            <a:ext cx="3200400" cy="1554480"/>
          </a:xfrm>
          <a:prstGeom prst="rect">
            <a:avLst/>
          </a:prstGeom>
          <a:noFill/>
          <a:ln/>
        </p:spPr>
        <p:txBody>
          <a:bodyPr wrap="square" lIns="0" tIns="0" rIns="0" bIns="0" rtlCol="0" anchor="t"/>
          <a:lstStyle/>
          <a:p>
            <a:pPr indent="0" marL="0">
              <a:buNone/>
            </a:pPr>
            <a:r>
              <a:rPr lang="en-US" sz="1600" b="1" dirty="0">
                <a:solidFill>
                  <a:schemeClr val="tx2"/>
                </a:solidFill>
              </a:rPr>
              <a:t>Una interfaz directa para obtener ese estado expondría detalles de implementación y rompería el encapsulamiento.</a:t>
            </a:r>
            <a:endParaRPr lang="en-US" sz="1600" dirty="0"/>
          </a:p>
        </p:txBody>
      </p:sp>
      <p:sp>
        <p:nvSpPr>
          <p:cNvPr id="9" name="Círculo y"/>
          <p:cNvSpPr/>
          <p:nvPr/>
        </p:nvSpPr>
        <p:spPr>
          <a:xfrm>
            <a:off x="4343400" y="2286000"/>
            <a:ext cx="457200" cy="457200"/>
          </a:xfrm>
          <a:prstGeom prst="ellipse">
            <a:avLst/>
          </a:prstGeom>
          <a:solidFill>
            <a:schemeClr val="accent2"/>
          </a:solidFill>
          <a:ln w="25400">
            <a:solidFill>
              <a:schemeClr val="bg1"/>
            </a:solidFill>
            <a:prstDash val="solid"/>
          </a:ln>
        </p:spPr>
      </p:sp>
      <p:sp>
        <p:nvSpPr>
          <p:cNvPr id="10" name="Texto y"/>
          <p:cNvSpPr txBox="1"/>
          <p:nvPr/>
        </p:nvSpPr>
        <p:spPr>
          <a:xfrm>
            <a:off x="4343400" y="228600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y</a:t>
            </a:r>
            <a:endParaRPr lang="en-US" sz="1800" dirty="0"/>
          </a:p>
        </p:txBody>
      </p:sp>
      <p:sp>
        <p:nvSpPr>
          <p:cNvPr id="11" name="Banner"/>
          <p:cNvSpPr/>
          <p:nvPr/>
        </p:nvSpPr>
        <p:spPr>
          <a:xfrm>
            <a:off x="548640" y="3840480"/>
            <a:ext cx="8046720" cy="640080"/>
          </a:xfrm>
          <a:prstGeom prst="roundRect">
            <a:avLst>
              <a:gd name="adj" fmla="val 17143"/>
            </a:avLst>
          </a:prstGeom>
          <a:solidFill>
            <a:schemeClr val="tx2"/>
          </a:solidFill>
          <a:ln/>
        </p:spPr>
      </p:sp>
      <p:sp>
        <p:nvSpPr>
          <p:cNvPr id="12" name="Texto banner"/>
          <p:cNvSpPr txBox="1"/>
          <p:nvPr/>
        </p:nvSpPr>
        <p:spPr>
          <a:xfrm>
            <a:off x="777240" y="3840480"/>
            <a:ext cx="7589520" cy="640080"/>
          </a:xfrm>
          <a:prstGeom prst="rect">
            <a:avLst/>
          </a:prstGeom>
          <a:noFill/>
          <a:ln/>
        </p:spPr>
        <p:txBody>
          <a:bodyPr wrap="square" lIns="0" tIns="0" rIns="0" bIns="0" rtlCol="0" anchor="ctr"/>
          <a:lstStyle/>
          <a:p>
            <a:pPr indent="0" marL="0">
              <a:buNone/>
            </a:pPr>
            <a:r>
              <a:rPr lang="en-US" sz="1400" b="1" dirty="0">
                <a:solidFill>
                  <a:schemeClr val="bg1"/>
                </a:solidFill>
              </a:rPr>
              <a:t>Se cumplen ambas a la vez, como en el editor gráfico: hay que guardar el estado del solver y no se puede exponer.</a:t>
            </a:r>
            <a:endParaRPr lang="en-US" sz="1400" dirty="0"/>
          </a:p>
        </p:txBody>
      </p:sp>
      <p:sp>
        <p:nvSpPr>
          <p:cNvPr id="13" name="Fuente"/>
          <p:cNvSpPr txBox="1"/>
          <p:nvPr/>
        </p:nvSpPr>
        <p:spPr>
          <a:xfrm>
            <a:off x="548640" y="4663440"/>
            <a:ext cx="8046720" cy="228600"/>
          </a:xfrm>
          <a:prstGeom prst="rect">
            <a:avLst/>
          </a:prstGeom>
          <a:noFill/>
          <a:ln/>
        </p:spPr>
        <p:txBody>
          <a:bodyPr wrap="square" lIns="0" tIns="0" rIns="0" bIns="0" rtlCol="0" anchor="t"/>
          <a:lstStyle/>
          <a:p>
            <a:pPr indent="0" marL="0">
              <a:buNone/>
            </a:pPr>
            <a:r>
              <a:rPr lang="en-US" sz="1000" dirty="0">
                <a:solidFill>
                  <a:schemeClr val="accent6"/>
                </a:solidFill>
              </a:rPr>
              <a:t>Fuente: Gamma, Helm, Johnson y Vlissides (1994). Design Patterns, capítulo Memento.</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Participantes</a:t>
            </a:r>
            <a:endParaRPr lang="en-US" sz="3600" dirty="0"/>
          </a:p>
        </p:txBody>
      </p:sp>
      <p:sp>
        <p:nvSpPr>
          <p:cNvPr id="3" name="Tarjeta Originator"/>
          <p:cNvSpPr/>
          <p:nvPr/>
        </p:nvSpPr>
        <p:spPr>
          <a:xfrm>
            <a:off x="548640" y="1371600"/>
            <a:ext cx="2560320" cy="3108960"/>
          </a:xfrm>
          <a:prstGeom prst="roundRect">
            <a:avLst>
              <a:gd name="adj" fmla="val 4286"/>
            </a:avLst>
          </a:prstGeom>
          <a:solidFill>
            <a:schemeClr val="bg2"/>
          </a:solidFill>
          <a:ln/>
        </p:spPr>
      </p:sp>
      <p:sp>
        <p:nvSpPr>
          <p:cNvPr id="4" name="Marca Originator"/>
          <p:cNvSpPr/>
          <p:nvPr/>
        </p:nvSpPr>
        <p:spPr>
          <a:xfrm>
            <a:off x="731520" y="1554480"/>
            <a:ext cx="320040" cy="320040"/>
          </a:xfrm>
          <a:prstGeom prst="ellipse">
            <a:avLst/>
          </a:prstGeom>
          <a:solidFill>
            <a:schemeClr val="accent4"/>
          </a:solidFill>
          <a:ln/>
        </p:spPr>
      </p:sp>
      <p:sp>
        <p:nvSpPr>
          <p:cNvPr id="5" name="Título Originator"/>
          <p:cNvSpPr txBox="1"/>
          <p:nvPr/>
        </p:nvSpPr>
        <p:spPr>
          <a:xfrm>
            <a:off x="1188720" y="1481328"/>
            <a:ext cx="1828800" cy="548640"/>
          </a:xfrm>
          <a:prstGeom prst="rect">
            <a:avLst/>
          </a:prstGeom>
          <a:noFill/>
          <a:ln/>
        </p:spPr>
        <p:txBody>
          <a:bodyPr wrap="square" lIns="0" tIns="0" rIns="0" bIns="0" rtlCol="0" anchor="t"/>
          <a:lstStyle/>
          <a:p>
            <a:pPr indent="0" marL="0">
              <a:buNone/>
            </a:pPr>
            <a:r>
              <a:rPr lang="en-US" sz="1800" b="1" dirty="0">
                <a:solidFill>
                  <a:schemeClr val="tx2"/>
                </a:solidFill>
              </a:rPr>
              <a:t>Originator</a:t>
            </a:r>
            <a:endParaRPr lang="en-US" sz="1800" dirty="0"/>
          </a:p>
          <a:p>
            <a:pPr indent="0" marL="0">
              <a:buNone/>
            </a:pPr>
            <a:r>
              <a:rPr lang="en-US" sz="1400" i="1" dirty="0">
                <a:solidFill>
                  <a:schemeClr val="accent6"/>
                </a:solidFill>
              </a:rPr>
              <a:t>ConstraintSolver</a:t>
            </a:r>
            <a:endParaRPr lang="en-US" sz="1800" dirty="0"/>
          </a:p>
        </p:txBody>
      </p:sp>
      <p:sp>
        <p:nvSpPr>
          <p:cNvPr id="6" name="Lista Originator"/>
          <p:cNvSpPr txBox="1"/>
          <p:nvPr/>
        </p:nvSpPr>
        <p:spPr>
          <a:xfrm>
            <a:off x="731520" y="2194560"/>
            <a:ext cx="2240280" cy="2148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Crea un memento con una instantánea de su estado interno.</a:t>
            </a:r>
            <a:endParaRPr lang="en-US" sz="1400" dirty="0"/>
          </a:p>
          <a:p>
            <a:pPr marL="342900" indent="-342900">
              <a:spcAft>
                <a:spcPts val="800"/>
              </a:spcAft>
              <a:buSzPct val="100000"/>
              <a:buChar char="•"/>
            </a:pPr>
            <a:r>
              <a:rPr lang="en-US" sz="1400" dirty="0">
                <a:solidFill>
                  <a:schemeClr val="tx1"/>
                </a:solidFill>
              </a:rPr>
              <a:t>Usa el memento para restaurar su estado interno.</a:t>
            </a:r>
            <a:endParaRPr lang="en-US" sz="1400" dirty="0"/>
          </a:p>
        </p:txBody>
      </p:sp>
      <p:sp>
        <p:nvSpPr>
          <p:cNvPr id="7" name="Tarjeta Memento"/>
          <p:cNvSpPr/>
          <p:nvPr/>
        </p:nvSpPr>
        <p:spPr>
          <a:xfrm>
            <a:off x="3291840" y="1371600"/>
            <a:ext cx="2560320" cy="3108960"/>
          </a:xfrm>
          <a:prstGeom prst="roundRect">
            <a:avLst>
              <a:gd name="adj" fmla="val 4286"/>
            </a:avLst>
          </a:prstGeom>
          <a:solidFill>
            <a:schemeClr val="bg2"/>
          </a:solidFill>
          <a:ln/>
        </p:spPr>
      </p:sp>
      <p:sp>
        <p:nvSpPr>
          <p:cNvPr id="8" name="Marca Memento"/>
          <p:cNvSpPr/>
          <p:nvPr/>
        </p:nvSpPr>
        <p:spPr>
          <a:xfrm>
            <a:off x="3474720" y="1554480"/>
            <a:ext cx="320040" cy="320040"/>
          </a:xfrm>
          <a:prstGeom prst="ellipse">
            <a:avLst/>
          </a:prstGeom>
          <a:solidFill>
            <a:schemeClr val="accent1"/>
          </a:solidFill>
          <a:ln/>
        </p:spPr>
      </p:sp>
      <p:sp>
        <p:nvSpPr>
          <p:cNvPr id="9" name="Título Memento"/>
          <p:cNvSpPr txBox="1"/>
          <p:nvPr/>
        </p:nvSpPr>
        <p:spPr>
          <a:xfrm>
            <a:off x="3931920" y="1481328"/>
            <a:ext cx="1828800" cy="548640"/>
          </a:xfrm>
          <a:prstGeom prst="rect">
            <a:avLst/>
          </a:prstGeom>
          <a:noFill/>
          <a:ln/>
        </p:spPr>
        <p:txBody>
          <a:bodyPr wrap="square" lIns="0" tIns="0" rIns="0" bIns="0" rtlCol="0" anchor="t"/>
          <a:lstStyle/>
          <a:p>
            <a:pPr indent="0" marL="0">
              <a:buNone/>
            </a:pPr>
            <a:r>
              <a:rPr lang="en-US" sz="1800" b="1" dirty="0">
                <a:solidFill>
                  <a:schemeClr val="tx2"/>
                </a:solidFill>
              </a:rPr>
              <a:t>Memento</a:t>
            </a:r>
            <a:endParaRPr lang="en-US" sz="1800" dirty="0"/>
          </a:p>
          <a:p>
            <a:pPr indent="0" marL="0">
              <a:buNone/>
            </a:pPr>
            <a:r>
              <a:rPr lang="en-US" sz="1400" i="1" dirty="0">
                <a:solidFill>
                  <a:schemeClr val="accent6"/>
                </a:solidFill>
              </a:rPr>
              <a:t>SolverState</a:t>
            </a:r>
            <a:endParaRPr lang="en-US" sz="1800" dirty="0"/>
          </a:p>
        </p:txBody>
      </p:sp>
      <p:sp>
        <p:nvSpPr>
          <p:cNvPr id="10" name="Lista Memento"/>
          <p:cNvSpPr txBox="1"/>
          <p:nvPr/>
        </p:nvSpPr>
        <p:spPr>
          <a:xfrm>
            <a:off x="3474720" y="2194560"/>
            <a:ext cx="2240280" cy="2148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Guarda el estado interno del originator, tanto o tan poco como este decida.</a:t>
            </a:r>
            <a:endParaRPr lang="en-US" sz="1400" dirty="0"/>
          </a:p>
          <a:p>
            <a:pPr marL="342900" indent="-342900">
              <a:spcAft>
                <a:spcPts val="800"/>
              </a:spcAft>
              <a:buSzPct val="100000"/>
              <a:buChar char="•"/>
            </a:pPr>
            <a:r>
              <a:rPr lang="en-US" sz="1400" dirty="0">
                <a:solidFill>
                  <a:schemeClr val="tx1"/>
                </a:solidFill>
              </a:rPr>
              <a:t>Protege el acceso: el caretaker ve una interfaz estrecha (solo puede pasarlo); el originator, una ancha.</a:t>
            </a:r>
            <a:endParaRPr lang="en-US" sz="1400" dirty="0"/>
          </a:p>
        </p:txBody>
      </p:sp>
      <p:sp>
        <p:nvSpPr>
          <p:cNvPr id="11" name="Tarjeta Caretaker"/>
          <p:cNvSpPr/>
          <p:nvPr/>
        </p:nvSpPr>
        <p:spPr>
          <a:xfrm>
            <a:off x="6035040" y="1371600"/>
            <a:ext cx="2560320" cy="3108960"/>
          </a:xfrm>
          <a:prstGeom prst="roundRect">
            <a:avLst>
              <a:gd name="adj" fmla="val 4286"/>
            </a:avLst>
          </a:prstGeom>
          <a:solidFill>
            <a:schemeClr val="bg2"/>
          </a:solidFill>
          <a:ln/>
        </p:spPr>
      </p:sp>
      <p:sp>
        <p:nvSpPr>
          <p:cNvPr id="12" name="Marca Caretaker"/>
          <p:cNvSpPr/>
          <p:nvPr/>
        </p:nvSpPr>
        <p:spPr>
          <a:xfrm>
            <a:off x="6217920" y="1554480"/>
            <a:ext cx="320040" cy="320040"/>
          </a:xfrm>
          <a:prstGeom prst="ellipse">
            <a:avLst/>
          </a:prstGeom>
          <a:solidFill>
            <a:schemeClr val="accent2"/>
          </a:solidFill>
          <a:ln/>
        </p:spPr>
      </p:sp>
      <p:sp>
        <p:nvSpPr>
          <p:cNvPr id="13" name="Título Caretaker"/>
          <p:cNvSpPr txBox="1"/>
          <p:nvPr/>
        </p:nvSpPr>
        <p:spPr>
          <a:xfrm>
            <a:off x="6675120" y="1481328"/>
            <a:ext cx="1828800" cy="548640"/>
          </a:xfrm>
          <a:prstGeom prst="rect">
            <a:avLst/>
          </a:prstGeom>
          <a:noFill/>
          <a:ln/>
        </p:spPr>
        <p:txBody>
          <a:bodyPr wrap="square" lIns="0" tIns="0" rIns="0" bIns="0" rtlCol="0" anchor="t"/>
          <a:lstStyle/>
          <a:p>
            <a:pPr indent="0" marL="0">
              <a:buNone/>
            </a:pPr>
            <a:r>
              <a:rPr lang="en-US" sz="1800" b="1" dirty="0">
                <a:solidFill>
                  <a:schemeClr val="tx2"/>
                </a:solidFill>
              </a:rPr>
              <a:t>Caretaker</a:t>
            </a:r>
            <a:endParaRPr lang="en-US" sz="1800" dirty="0"/>
          </a:p>
          <a:p>
            <a:pPr indent="0" marL="0">
              <a:buNone/>
            </a:pPr>
            <a:r>
              <a:rPr lang="en-US" sz="1400" i="1" dirty="0">
                <a:solidFill>
                  <a:schemeClr val="accent6"/>
                </a:solidFill>
              </a:rPr>
              <a:t>mecanismo de deshacer</a:t>
            </a:r>
            <a:endParaRPr lang="en-US" sz="1800" dirty="0"/>
          </a:p>
        </p:txBody>
      </p:sp>
      <p:sp>
        <p:nvSpPr>
          <p:cNvPr id="14" name="Lista Caretaker"/>
          <p:cNvSpPr txBox="1"/>
          <p:nvPr/>
        </p:nvSpPr>
        <p:spPr>
          <a:xfrm>
            <a:off x="6217920" y="2194560"/>
            <a:ext cx="2240280" cy="2148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Es responsable de custodiar el memento.</a:t>
            </a:r>
            <a:endParaRPr lang="en-US" sz="1400" dirty="0"/>
          </a:p>
          <a:p>
            <a:pPr marL="342900" indent="-342900">
              <a:spcAft>
                <a:spcPts val="800"/>
              </a:spcAft>
              <a:buSzPct val="100000"/>
              <a:buChar char="•"/>
            </a:pPr>
            <a:r>
              <a:rPr lang="en-US" sz="1400" dirty="0">
                <a:solidFill>
                  <a:schemeClr val="tx1"/>
                </a:solidFill>
              </a:rPr>
              <a:t>Nunca opera ni examina su contenido.</a:t>
            </a:r>
            <a:endParaRPr lang="en-US" sz="1400" dirty="0"/>
          </a:p>
        </p:txBody>
      </p:sp>
      <p:sp>
        <p:nvSpPr>
          <p:cNvPr id="15" name="Fuente"/>
          <p:cNvSpPr txBox="1"/>
          <p:nvPr/>
        </p:nvSpPr>
        <p:spPr>
          <a:xfrm>
            <a:off x="548640" y="4663440"/>
            <a:ext cx="8046720" cy="228600"/>
          </a:xfrm>
          <a:prstGeom prst="rect">
            <a:avLst/>
          </a:prstGeom>
          <a:noFill/>
          <a:ln/>
        </p:spPr>
        <p:txBody>
          <a:bodyPr wrap="square" lIns="0" tIns="0" rIns="0" bIns="0" rtlCol="0" anchor="t"/>
          <a:lstStyle/>
          <a:p>
            <a:pPr indent="0" marL="0">
              <a:buNone/>
            </a:pPr>
            <a:r>
              <a:rPr lang="en-US" sz="1000" dirty="0">
                <a:solidFill>
                  <a:schemeClr val="accent6"/>
                </a:solidFill>
              </a:rPr>
              <a:t>Fuente: Gamma, Helm, Johnson y Vlissides (1994). Design Patterns, capítulo Memento.</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Estructura</a:t>
            </a:r>
            <a:endParaRPr lang="en-US" sz="3600" dirty="0"/>
          </a:p>
        </p:txBody>
      </p:sp>
      <p:sp>
        <p:nvSpPr>
          <p:cNvPr id="3" name="Originator nombre"/>
          <p:cNvSpPr/>
          <p:nvPr/>
        </p:nvSpPr>
        <p:spPr>
          <a:xfrm>
            <a:off x="548640" y="1371600"/>
            <a:ext cx="2194560" cy="502920"/>
          </a:xfrm>
          <a:prstGeom prst="rect">
            <a:avLst/>
          </a:prstGeom>
          <a:solidFill>
            <a:schemeClr val="accent4"/>
          </a:solidFill>
          <a:ln w="15875">
            <a:solidFill>
              <a:schemeClr val="tx2"/>
            </a:solidFill>
            <a:prstDash val="solid"/>
          </a:ln>
        </p:spPr>
      </p:sp>
      <p:sp>
        <p:nvSpPr>
          <p:cNvPr id="4" name="Originator texto"/>
          <p:cNvSpPr txBox="1"/>
          <p:nvPr/>
        </p:nvSpPr>
        <p:spPr>
          <a:xfrm>
            <a:off x="548640" y="1371600"/>
            <a:ext cx="2194560" cy="502920"/>
          </a:xfrm>
          <a:prstGeom prst="rect">
            <a:avLst/>
          </a:prstGeom>
          <a:noFill/>
          <a:ln/>
        </p:spPr>
        <p:txBody>
          <a:bodyPr wrap="square" lIns="0" tIns="0" rIns="0" bIns="0" rtlCol="0" anchor="ctr"/>
          <a:lstStyle/>
          <a:p>
            <a:pPr algn="ctr" indent="0" marL="0">
              <a:buNone/>
            </a:pPr>
            <a:r>
              <a:rPr lang="en-US" sz="1100" i="1" dirty="0">
                <a:solidFill>
                  <a:schemeClr val="bg1"/>
                </a:solidFill>
              </a:rPr>
              <a:t>«originator»</a:t>
            </a:r>
            <a:endParaRPr lang="en-US" sz="1100" dirty="0"/>
          </a:p>
          <a:p>
            <a:pPr algn="ctr" indent="0" marL="0">
              <a:buNone/>
            </a:pPr>
            <a:r>
              <a:rPr lang="en-US" sz="1400" b="1" dirty="0">
                <a:solidFill>
                  <a:schemeClr val="bg1"/>
                </a:solidFill>
              </a:rPr>
              <a:t>Originator</a:t>
            </a:r>
            <a:endParaRPr lang="en-US" sz="1100" dirty="0"/>
          </a:p>
        </p:txBody>
      </p:sp>
      <p:sp>
        <p:nvSpPr>
          <p:cNvPr id="5" name="Originator atributos"/>
          <p:cNvSpPr/>
          <p:nvPr/>
        </p:nvSpPr>
        <p:spPr>
          <a:xfrm>
            <a:off x="548640" y="1874520"/>
            <a:ext cx="2194560" cy="329184"/>
          </a:xfrm>
          <a:prstGeom prst="rect">
            <a:avLst/>
          </a:prstGeom>
          <a:solidFill>
            <a:schemeClr val="bg1"/>
          </a:solidFill>
          <a:ln w="15875">
            <a:solidFill>
              <a:schemeClr val="tx2"/>
            </a:solidFill>
            <a:prstDash val="solid"/>
          </a:ln>
        </p:spPr>
      </p:sp>
      <p:sp>
        <p:nvSpPr>
          <p:cNvPr id="6" name="Originator lista atributos"/>
          <p:cNvSpPr txBox="1"/>
          <p:nvPr/>
        </p:nvSpPr>
        <p:spPr>
          <a:xfrm>
            <a:off x="640080" y="1920240"/>
            <a:ext cx="2011680" cy="237744"/>
          </a:xfrm>
          <a:prstGeom prst="rect">
            <a:avLst/>
          </a:prstGeom>
          <a:noFill/>
          <a:ln/>
        </p:spPr>
        <p:txBody>
          <a:bodyPr wrap="square" lIns="0" tIns="0" rIns="0" bIns="0" rtlCol="0" anchor="t"/>
          <a:lstStyle/>
          <a:p>
            <a:pPr indent="0" marL="0">
              <a:buNone/>
            </a:pPr>
            <a:r>
              <a:rPr lang="en-US" sz="1200" dirty="0">
                <a:solidFill>
                  <a:schemeClr val="tx1"/>
                </a:solidFill>
              </a:rPr>
              <a:t>-state</a:t>
            </a:r>
            <a:endParaRPr lang="en-US" sz="1200" dirty="0"/>
          </a:p>
        </p:txBody>
      </p:sp>
      <p:sp>
        <p:nvSpPr>
          <p:cNvPr id="7" name="Originator operaciones"/>
          <p:cNvSpPr/>
          <p:nvPr/>
        </p:nvSpPr>
        <p:spPr>
          <a:xfrm>
            <a:off x="548640" y="2203704"/>
            <a:ext cx="2194560" cy="566928"/>
          </a:xfrm>
          <a:prstGeom prst="rect">
            <a:avLst/>
          </a:prstGeom>
          <a:solidFill>
            <a:schemeClr val="bg1"/>
          </a:solidFill>
          <a:ln w="15875">
            <a:solidFill>
              <a:schemeClr val="tx2"/>
            </a:solidFill>
            <a:prstDash val="solid"/>
          </a:ln>
        </p:spPr>
      </p:sp>
      <p:sp>
        <p:nvSpPr>
          <p:cNvPr id="8" name="Originator lista operaciones"/>
          <p:cNvSpPr txBox="1"/>
          <p:nvPr/>
        </p:nvSpPr>
        <p:spPr>
          <a:xfrm>
            <a:off x="640080" y="2249424"/>
            <a:ext cx="2011680" cy="475488"/>
          </a:xfrm>
          <a:prstGeom prst="rect">
            <a:avLst/>
          </a:prstGeom>
          <a:noFill/>
          <a:ln/>
        </p:spPr>
        <p:txBody>
          <a:bodyPr wrap="square" lIns="0" tIns="0" rIns="0" bIns="0" rtlCol="0" anchor="t"/>
          <a:lstStyle/>
          <a:p>
            <a:pPr indent="0" marL="0">
              <a:buNone/>
            </a:pPr>
            <a:r>
              <a:rPr lang="en-US" sz="1200" dirty="0">
                <a:solidFill>
                  <a:schemeClr val="tx1"/>
                </a:solidFill>
              </a:rPr>
              <a:t>+SetMemento(Memento m)</a:t>
            </a:r>
            <a:endParaRPr lang="en-US" sz="1200" dirty="0"/>
          </a:p>
          <a:p>
            <a:pPr indent="0" marL="0">
              <a:buNone/>
            </a:pPr>
            <a:r>
              <a:rPr lang="en-US" sz="1200" dirty="0">
                <a:solidFill>
                  <a:schemeClr val="tx1"/>
                </a:solidFill>
              </a:rPr>
              <a:t>+CreateMemento()</a:t>
            </a:r>
            <a:endParaRPr lang="en-US" sz="1200" dirty="0"/>
          </a:p>
        </p:txBody>
      </p:sp>
      <p:sp>
        <p:nvSpPr>
          <p:cNvPr id="9" name="Memento nombre"/>
          <p:cNvSpPr/>
          <p:nvPr/>
        </p:nvSpPr>
        <p:spPr>
          <a:xfrm>
            <a:off x="3566160" y="1371600"/>
            <a:ext cx="2194560" cy="502920"/>
          </a:xfrm>
          <a:prstGeom prst="rect">
            <a:avLst/>
          </a:prstGeom>
          <a:solidFill>
            <a:schemeClr val="accent1"/>
          </a:solidFill>
          <a:ln w="15875">
            <a:solidFill>
              <a:schemeClr val="tx2"/>
            </a:solidFill>
            <a:prstDash val="solid"/>
          </a:ln>
        </p:spPr>
      </p:sp>
      <p:sp>
        <p:nvSpPr>
          <p:cNvPr id="10" name="Memento texto"/>
          <p:cNvSpPr txBox="1"/>
          <p:nvPr/>
        </p:nvSpPr>
        <p:spPr>
          <a:xfrm>
            <a:off x="3566160" y="1371600"/>
            <a:ext cx="2194560" cy="502920"/>
          </a:xfrm>
          <a:prstGeom prst="rect">
            <a:avLst/>
          </a:prstGeom>
          <a:noFill/>
          <a:ln/>
        </p:spPr>
        <p:txBody>
          <a:bodyPr wrap="square" lIns="0" tIns="0" rIns="0" bIns="0" rtlCol="0" anchor="ctr"/>
          <a:lstStyle/>
          <a:p>
            <a:pPr algn="ctr" indent="0" marL="0">
              <a:buNone/>
            </a:pPr>
            <a:r>
              <a:rPr lang="en-US" sz="1100" i="1" dirty="0">
                <a:solidFill>
                  <a:schemeClr val="bg1"/>
                </a:solidFill>
              </a:rPr>
              <a:t>«memento»</a:t>
            </a:r>
            <a:endParaRPr lang="en-US" sz="1100" dirty="0"/>
          </a:p>
          <a:p>
            <a:pPr algn="ctr" indent="0" marL="0">
              <a:buNone/>
            </a:pPr>
            <a:r>
              <a:rPr lang="en-US" sz="1400" b="1" dirty="0">
                <a:solidFill>
                  <a:schemeClr val="bg1"/>
                </a:solidFill>
              </a:rPr>
              <a:t>Memento</a:t>
            </a:r>
            <a:endParaRPr lang="en-US" sz="1100" dirty="0"/>
          </a:p>
        </p:txBody>
      </p:sp>
      <p:sp>
        <p:nvSpPr>
          <p:cNvPr id="11" name="Memento atributos"/>
          <p:cNvSpPr/>
          <p:nvPr/>
        </p:nvSpPr>
        <p:spPr>
          <a:xfrm>
            <a:off x="3566160" y="1874520"/>
            <a:ext cx="2194560" cy="329184"/>
          </a:xfrm>
          <a:prstGeom prst="rect">
            <a:avLst/>
          </a:prstGeom>
          <a:solidFill>
            <a:schemeClr val="bg1"/>
          </a:solidFill>
          <a:ln w="15875">
            <a:solidFill>
              <a:schemeClr val="tx2"/>
            </a:solidFill>
            <a:prstDash val="solid"/>
          </a:ln>
        </p:spPr>
      </p:sp>
      <p:sp>
        <p:nvSpPr>
          <p:cNvPr id="12" name="Memento lista atributos"/>
          <p:cNvSpPr txBox="1"/>
          <p:nvPr/>
        </p:nvSpPr>
        <p:spPr>
          <a:xfrm>
            <a:off x="3657600" y="1920240"/>
            <a:ext cx="2011680" cy="237744"/>
          </a:xfrm>
          <a:prstGeom prst="rect">
            <a:avLst/>
          </a:prstGeom>
          <a:noFill/>
          <a:ln/>
        </p:spPr>
        <p:txBody>
          <a:bodyPr wrap="square" lIns="0" tIns="0" rIns="0" bIns="0" rtlCol="0" anchor="t"/>
          <a:lstStyle/>
          <a:p>
            <a:pPr indent="0" marL="0">
              <a:buNone/>
            </a:pPr>
            <a:r>
              <a:rPr lang="en-US" sz="1200" dirty="0">
                <a:solidFill>
                  <a:schemeClr val="tx1"/>
                </a:solidFill>
              </a:rPr>
              <a:t>-state</a:t>
            </a:r>
            <a:endParaRPr lang="en-US" sz="1200" dirty="0"/>
          </a:p>
        </p:txBody>
      </p:sp>
      <p:sp>
        <p:nvSpPr>
          <p:cNvPr id="13" name="Memento operaciones"/>
          <p:cNvSpPr/>
          <p:nvPr/>
        </p:nvSpPr>
        <p:spPr>
          <a:xfrm>
            <a:off x="3566160" y="2203704"/>
            <a:ext cx="2194560" cy="566928"/>
          </a:xfrm>
          <a:prstGeom prst="rect">
            <a:avLst/>
          </a:prstGeom>
          <a:solidFill>
            <a:schemeClr val="bg1"/>
          </a:solidFill>
          <a:ln w="15875">
            <a:solidFill>
              <a:schemeClr val="tx2"/>
            </a:solidFill>
            <a:prstDash val="solid"/>
          </a:ln>
        </p:spPr>
      </p:sp>
      <p:sp>
        <p:nvSpPr>
          <p:cNvPr id="14" name="Memento lista operaciones"/>
          <p:cNvSpPr txBox="1"/>
          <p:nvPr/>
        </p:nvSpPr>
        <p:spPr>
          <a:xfrm>
            <a:off x="3657600" y="2249424"/>
            <a:ext cx="2011680" cy="475488"/>
          </a:xfrm>
          <a:prstGeom prst="rect">
            <a:avLst/>
          </a:prstGeom>
          <a:noFill/>
          <a:ln/>
        </p:spPr>
        <p:txBody>
          <a:bodyPr wrap="square" lIns="0" tIns="0" rIns="0" bIns="0" rtlCol="0" anchor="t"/>
          <a:lstStyle/>
          <a:p>
            <a:pPr indent="0" marL="0">
              <a:buNone/>
            </a:pPr>
            <a:r>
              <a:rPr lang="en-US" sz="1200" dirty="0">
                <a:solidFill>
                  <a:schemeClr val="tx1"/>
                </a:solidFill>
              </a:rPr>
              <a:t>-GetState()</a:t>
            </a:r>
            <a:endParaRPr lang="en-US" sz="1200" dirty="0"/>
          </a:p>
          <a:p>
            <a:pPr indent="0" marL="0">
              <a:buNone/>
            </a:pPr>
            <a:r>
              <a:rPr lang="en-US" sz="1200" dirty="0">
                <a:solidFill>
                  <a:schemeClr val="tx1"/>
                </a:solidFill>
              </a:rPr>
              <a:t>-SetState()</a:t>
            </a:r>
            <a:endParaRPr lang="en-US" sz="1200" dirty="0"/>
          </a:p>
        </p:txBody>
      </p:sp>
      <p:sp>
        <p:nvSpPr>
          <p:cNvPr id="15" name="Caretaker nombre"/>
          <p:cNvSpPr/>
          <p:nvPr/>
        </p:nvSpPr>
        <p:spPr>
          <a:xfrm>
            <a:off x="6583680" y="1371600"/>
            <a:ext cx="2011680" cy="502920"/>
          </a:xfrm>
          <a:prstGeom prst="rect">
            <a:avLst/>
          </a:prstGeom>
          <a:solidFill>
            <a:schemeClr val="accent2"/>
          </a:solidFill>
          <a:ln w="15875">
            <a:solidFill>
              <a:schemeClr val="tx2"/>
            </a:solidFill>
            <a:prstDash val="solid"/>
          </a:ln>
        </p:spPr>
      </p:sp>
      <p:sp>
        <p:nvSpPr>
          <p:cNvPr id="16" name="Caretaker texto"/>
          <p:cNvSpPr txBox="1"/>
          <p:nvPr/>
        </p:nvSpPr>
        <p:spPr>
          <a:xfrm>
            <a:off x="6583680" y="1371600"/>
            <a:ext cx="2011680" cy="502920"/>
          </a:xfrm>
          <a:prstGeom prst="rect">
            <a:avLst/>
          </a:prstGeom>
          <a:noFill/>
          <a:ln/>
        </p:spPr>
        <p:txBody>
          <a:bodyPr wrap="square" lIns="0" tIns="0" rIns="0" bIns="0" rtlCol="0" anchor="ctr"/>
          <a:lstStyle/>
          <a:p>
            <a:pPr algn="ctr" indent="0" marL="0">
              <a:buNone/>
            </a:pPr>
            <a:r>
              <a:rPr lang="en-US" sz="1100" i="1" dirty="0">
                <a:solidFill>
                  <a:schemeClr val="tx2"/>
                </a:solidFill>
              </a:rPr>
              <a:t>«caretaker»</a:t>
            </a:r>
            <a:endParaRPr lang="en-US" sz="1100" dirty="0"/>
          </a:p>
          <a:p>
            <a:pPr algn="ctr" indent="0" marL="0">
              <a:buNone/>
            </a:pPr>
            <a:r>
              <a:rPr lang="en-US" sz="1400" b="1" dirty="0">
                <a:solidFill>
                  <a:schemeClr val="tx2"/>
                </a:solidFill>
              </a:rPr>
              <a:t>Caretaker</a:t>
            </a:r>
            <a:endParaRPr lang="en-US" sz="1100" dirty="0"/>
          </a:p>
        </p:txBody>
      </p:sp>
      <p:sp>
        <p:nvSpPr>
          <p:cNvPr id="17" name="Caretaker atributos"/>
          <p:cNvSpPr/>
          <p:nvPr/>
        </p:nvSpPr>
        <p:spPr>
          <a:xfrm>
            <a:off x="6583680" y="1874520"/>
            <a:ext cx="2011680" cy="274320"/>
          </a:xfrm>
          <a:prstGeom prst="rect">
            <a:avLst/>
          </a:prstGeom>
          <a:solidFill>
            <a:schemeClr val="bg1"/>
          </a:solidFill>
          <a:ln w="15875">
            <a:solidFill>
              <a:schemeClr val="tx2"/>
            </a:solidFill>
            <a:prstDash val="solid"/>
          </a:ln>
        </p:spPr>
      </p:sp>
      <p:sp>
        <p:nvSpPr>
          <p:cNvPr id="18" name="Caretaker operaciones"/>
          <p:cNvSpPr/>
          <p:nvPr/>
        </p:nvSpPr>
        <p:spPr>
          <a:xfrm>
            <a:off x="6583680" y="2148840"/>
            <a:ext cx="2011680" cy="274320"/>
          </a:xfrm>
          <a:prstGeom prst="rect">
            <a:avLst/>
          </a:prstGeom>
          <a:solidFill>
            <a:schemeClr val="bg1"/>
          </a:solidFill>
          <a:ln w="15875">
            <a:solidFill>
              <a:schemeClr val="tx2"/>
            </a:solidFill>
            <a:prstDash val="solid"/>
          </a:ln>
        </p:spPr>
      </p:sp>
      <p:sp>
        <p:nvSpPr>
          <p:cNvPr id="19" name="Flecha"/>
          <p:cNvSpPr/>
          <p:nvPr/>
        </p:nvSpPr>
        <p:spPr>
          <a:xfrm>
            <a:off x="2743200" y="1623060"/>
            <a:ext cx="822960" cy="0"/>
          </a:xfrm>
          <a:prstGeom prst="line">
            <a:avLst/>
          </a:prstGeom>
          <a:noFill/>
          <a:ln w="19050">
            <a:solidFill>
              <a:schemeClr val="tx2"/>
            </a:solidFill>
            <a:prstDash val="dash"/>
            <a:tailEnd type="triangle"/>
          </a:ln>
        </p:spPr>
      </p:sp>
      <p:sp>
        <p:nvSpPr>
          <p:cNvPr id="20" name="Etiqueta crea"/>
          <p:cNvSpPr txBox="1"/>
          <p:nvPr/>
        </p:nvSpPr>
        <p:spPr>
          <a:xfrm>
            <a:off x="2743200" y="1668780"/>
            <a:ext cx="822960" cy="228600"/>
          </a:xfrm>
          <a:prstGeom prst="rect">
            <a:avLst/>
          </a:prstGeom>
          <a:noFill/>
          <a:ln/>
        </p:spPr>
        <p:txBody>
          <a:bodyPr wrap="square" lIns="0" tIns="0" rIns="0" bIns="0" rtlCol="0" anchor="t"/>
          <a:lstStyle/>
          <a:p>
            <a:pPr algn="ctr" indent="0" marL="0">
              <a:buNone/>
            </a:pPr>
            <a:r>
              <a:rPr lang="en-US" sz="1100" i="1" dirty="0">
                <a:solidFill>
                  <a:schemeClr val="accent6"/>
                </a:solidFill>
              </a:rPr>
              <a:t>crea</a:t>
            </a:r>
            <a:endParaRPr lang="en-US" sz="1100" dirty="0"/>
          </a:p>
        </p:txBody>
      </p:sp>
      <p:sp>
        <p:nvSpPr>
          <p:cNvPr id="21" name="Flecha"/>
          <p:cNvSpPr/>
          <p:nvPr/>
        </p:nvSpPr>
        <p:spPr>
          <a:xfrm flipH="1">
            <a:off x="5760720" y="1623060"/>
            <a:ext cx="822960" cy="0"/>
          </a:xfrm>
          <a:prstGeom prst="line">
            <a:avLst/>
          </a:prstGeom>
          <a:noFill/>
          <a:ln w="19050">
            <a:solidFill>
              <a:schemeClr val="tx2"/>
            </a:solidFill>
            <a:prstDash val="solid"/>
          </a:ln>
        </p:spPr>
      </p:sp>
      <p:sp>
        <p:nvSpPr>
          <p:cNvPr id="22" name="Etiqueta guarda"/>
          <p:cNvSpPr txBox="1"/>
          <p:nvPr/>
        </p:nvSpPr>
        <p:spPr>
          <a:xfrm>
            <a:off x="5760720" y="1668780"/>
            <a:ext cx="822960" cy="228600"/>
          </a:xfrm>
          <a:prstGeom prst="rect">
            <a:avLst/>
          </a:prstGeom>
          <a:noFill/>
          <a:ln/>
        </p:spPr>
        <p:txBody>
          <a:bodyPr wrap="square" lIns="0" tIns="0" rIns="0" bIns="0" rtlCol="0" anchor="t"/>
          <a:lstStyle/>
          <a:p>
            <a:pPr algn="ctr" indent="0" marL="0">
              <a:buNone/>
            </a:pPr>
            <a:r>
              <a:rPr lang="en-US" sz="1100" i="1" dirty="0">
                <a:solidFill>
                  <a:schemeClr val="accent6"/>
                </a:solidFill>
              </a:rPr>
              <a:t>guarda</a:t>
            </a:r>
            <a:endParaRPr lang="en-US" sz="1100" dirty="0"/>
          </a:p>
        </p:txBody>
      </p:sp>
      <p:sp>
        <p:nvSpPr>
          <p:cNvPr id="23" name="Nota de código"/>
          <p:cNvSpPr/>
          <p:nvPr/>
        </p:nvSpPr>
        <p:spPr>
          <a:xfrm>
            <a:off x="548640" y="2971800"/>
            <a:ext cx="5212080" cy="731520"/>
          </a:xfrm>
          <a:prstGeom prst="roundRect">
            <a:avLst>
              <a:gd name="adj" fmla="val 15000"/>
            </a:avLst>
          </a:prstGeom>
          <a:solidFill>
            <a:schemeClr val="bg2"/>
          </a:solidFill>
          <a:ln/>
        </p:spPr>
      </p:sp>
      <p:sp>
        <p:nvSpPr>
          <p:cNvPr id="24" name="Texto nota código"/>
          <p:cNvSpPr txBox="1"/>
          <p:nvPr/>
        </p:nvSpPr>
        <p:spPr>
          <a:xfrm>
            <a:off x="731520" y="3063240"/>
            <a:ext cx="4846320" cy="5486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CreateMemento():  return new Memento(state)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SetMemento(m):  state = m-&gt;GetState()</a:t>
            </a:r>
            <a:endParaRPr lang="en-US" sz="1200" dirty="0"/>
          </a:p>
        </p:txBody>
      </p:sp>
      <p:sp>
        <p:nvSpPr>
          <p:cNvPr id="25" name="Leyenda 1"/>
          <p:cNvSpPr/>
          <p:nvPr/>
        </p:nvSpPr>
        <p:spPr>
          <a:xfrm>
            <a:off x="548640" y="3840480"/>
            <a:ext cx="3931920" cy="685800"/>
          </a:xfrm>
          <a:prstGeom prst="roundRect">
            <a:avLst>
              <a:gd name="adj" fmla="val 16000"/>
            </a:avLst>
          </a:prstGeom>
          <a:solidFill>
            <a:schemeClr val="accent4">
              <a:alpha val="20000"/>
            </a:schemeClr>
          </a:solidFill>
          <a:ln/>
        </p:spPr>
      </p:sp>
      <p:sp>
        <p:nvSpPr>
          <p:cNvPr id="26" name="Texto leyenda 1"/>
          <p:cNvSpPr txBox="1"/>
          <p:nvPr/>
        </p:nvSpPr>
        <p:spPr>
          <a:xfrm>
            <a:off x="731520" y="3840480"/>
            <a:ext cx="3566160" cy="685800"/>
          </a:xfrm>
          <a:prstGeom prst="rect">
            <a:avLst/>
          </a:prstGeom>
          <a:noFill/>
          <a:ln/>
        </p:spPr>
        <p:txBody>
          <a:bodyPr wrap="square" lIns="0" tIns="0" rIns="0" bIns="0" rtlCol="0" anchor="ctr"/>
          <a:lstStyle/>
          <a:p>
            <a:pPr indent="0" marL="0">
              <a:buNone/>
            </a:pPr>
            <a:r>
              <a:rPr lang="en-US" sz="1400" b="1" dirty="0">
                <a:solidFill>
                  <a:schemeClr val="tx1"/>
                </a:solidFill>
              </a:rPr>
              <a:t>Interfaz ancha</a:t>
            </a:r>
            <a:endParaRPr lang="en-US" sz="1400" dirty="0"/>
          </a:p>
          <a:p>
            <a:pPr indent="0" marL="0">
              <a:buNone/>
            </a:pPr>
            <a:r>
              <a:rPr lang="en-US" sz="1400" dirty="0">
                <a:solidFill>
                  <a:schemeClr val="tx1"/>
                </a:solidFill>
              </a:rPr>
              <a:t>Originator ↔ Memento: acceso a todo el estado</a:t>
            </a:r>
            <a:endParaRPr lang="en-US" sz="1400" dirty="0"/>
          </a:p>
        </p:txBody>
      </p:sp>
      <p:sp>
        <p:nvSpPr>
          <p:cNvPr id="27" name="Leyenda 2"/>
          <p:cNvSpPr/>
          <p:nvPr/>
        </p:nvSpPr>
        <p:spPr>
          <a:xfrm>
            <a:off x="4663440" y="3840480"/>
            <a:ext cx="3931920" cy="685800"/>
          </a:xfrm>
          <a:prstGeom prst="roundRect">
            <a:avLst>
              <a:gd name="adj" fmla="val 16000"/>
            </a:avLst>
          </a:prstGeom>
          <a:solidFill>
            <a:schemeClr val="accent2">
              <a:alpha val="20000"/>
            </a:schemeClr>
          </a:solidFill>
          <a:ln/>
        </p:spPr>
      </p:sp>
      <p:sp>
        <p:nvSpPr>
          <p:cNvPr id="28" name="Texto leyenda 2"/>
          <p:cNvSpPr txBox="1"/>
          <p:nvPr/>
        </p:nvSpPr>
        <p:spPr>
          <a:xfrm>
            <a:off x="4846320" y="3840480"/>
            <a:ext cx="3566160" cy="685800"/>
          </a:xfrm>
          <a:prstGeom prst="rect">
            <a:avLst/>
          </a:prstGeom>
          <a:noFill/>
          <a:ln/>
        </p:spPr>
        <p:txBody>
          <a:bodyPr wrap="square" lIns="0" tIns="0" rIns="0" bIns="0" rtlCol="0" anchor="ctr"/>
          <a:lstStyle/>
          <a:p>
            <a:pPr indent="0" marL="0">
              <a:buNone/>
            </a:pPr>
            <a:r>
              <a:rPr lang="en-US" sz="1400" b="1" dirty="0">
                <a:solidFill>
                  <a:schemeClr val="tx1"/>
                </a:solidFill>
              </a:rPr>
              <a:t>Interfaz estrecha</a:t>
            </a:r>
            <a:endParaRPr lang="en-US" sz="1400" dirty="0"/>
          </a:p>
          <a:p>
            <a:pPr indent="0" marL="0">
              <a:buNone/>
            </a:pPr>
            <a:r>
              <a:rPr lang="en-US" sz="1400" dirty="0">
                <a:solidFill>
                  <a:schemeClr val="tx1"/>
                </a:solidFill>
              </a:rPr>
              <a:t>Caretaker ↔ Memento: solo puede pasarlo</a:t>
            </a:r>
            <a:endParaRPr lang="en-US" sz="1400" dirty="0"/>
          </a:p>
        </p:txBody>
      </p:sp>
      <p:sp>
        <p:nvSpPr>
          <p:cNvPr id="29" name="Fuente"/>
          <p:cNvSpPr txBox="1"/>
          <p:nvPr/>
        </p:nvSpPr>
        <p:spPr>
          <a:xfrm>
            <a:off x="548640" y="4663440"/>
            <a:ext cx="8046720" cy="228600"/>
          </a:xfrm>
          <a:prstGeom prst="rect">
            <a:avLst/>
          </a:prstGeom>
          <a:noFill/>
          <a:ln/>
        </p:spPr>
        <p:txBody>
          <a:bodyPr wrap="square" lIns="0" tIns="0" rIns="0" bIns="0" rtlCol="0" anchor="t"/>
          <a:lstStyle/>
          <a:p>
            <a:pPr indent="0" marL="0">
              <a:buNone/>
            </a:pPr>
            <a:r>
              <a:rPr lang="en-US" sz="1000" dirty="0">
                <a:solidFill>
                  <a:schemeClr val="accent6"/>
                </a:solidFill>
              </a:rPr>
              <a:t>Diagrama elaborado a partir de la estructura de Gamma, Helm, Johnson y Vlissides (1994). Design Patterns.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Colaboraciones</a:t>
            </a:r>
            <a:endParaRPr lang="en-US" sz="3600" dirty="0"/>
          </a:p>
        </p:txBody>
      </p:sp>
      <p:sp>
        <p:nvSpPr>
          <p:cNvPr id="3" name="Línea de vida :Caretaker"/>
          <p:cNvSpPr/>
          <p:nvPr/>
        </p:nvSpPr>
        <p:spPr>
          <a:xfrm>
            <a:off x="1737360" y="1783080"/>
            <a:ext cx="0" cy="2286000"/>
          </a:xfrm>
          <a:prstGeom prst="line">
            <a:avLst/>
          </a:prstGeom>
          <a:noFill/>
          <a:ln w="12700">
            <a:solidFill>
              <a:schemeClr val="accent6"/>
            </a:solidFill>
            <a:prstDash val="dash"/>
          </a:ln>
        </p:spPr>
      </p:sp>
      <p:sp>
        <p:nvSpPr>
          <p:cNvPr id="4" name="Cabecera :Caretaker"/>
          <p:cNvSpPr/>
          <p:nvPr/>
        </p:nvSpPr>
        <p:spPr>
          <a:xfrm>
            <a:off x="731520" y="1371600"/>
            <a:ext cx="2011680" cy="411480"/>
          </a:xfrm>
          <a:prstGeom prst="rect">
            <a:avLst/>
          </a:prstGeom>
          <a:solidFill>
            <a:schemeClr val="accent2"/>
          </a:solidFill>
          <a:ln w="15875">
            <a:solidFill>
              <a:schemeClr val="tx2"/>
            </a:solidFill>
            <a:prstDash val="solid"/>
          </a:ln>
        </p:spPr>
      </p:sp>
      <p:sp>
        <p:nvSpPr>
          <p:cNvPr id="5" name="Nombre :Caretaker"/>
          <p:cNvSpPr txBox="1"/>
          <p:nvPr/>
        </p:nvSpPr>
        <p:spPr>
          <a:xfrm>
            <a:off x="731520" y="1371600"/>
            <a:ext cx="2011680" cy="411480"/>
          </a:xfrm>
          <a:prstGeom prst="rect">
            <a:avLst/>
          </a:prstGeom>
          <a:noFill/>
          <a:ln/>
        </p:spPr>
        <p:txBody>
          <a:bodyPr wrap="square" lIns="0" tIns="0" rIns="0" bIns="0" rtlCol="0" anchor="ctr"/>
          <a:lstStyle/>
          <a:p>
            <a:pPr algn="ctr" indent="0" marL="0">
              <a:buNone/>
            </a:pPr>
            <a:r>
              <a:rPr lang="en-US" sz="1400" b="1" dirty="0">
                <a:solidFill>
                  <a:schemeClr val="tx2"/>
                </a:solidFill>
              </a:rPr>
              <a:t>:Caretaker</a:t>
            </a:r>
            <a:endParaRPr lang="en-US" sz="1400" dirty="0"/>
          </a:p>
        </p:txBody>
      </p:sp>
      <p:sp>
        <p:nvSpPr>
          <p:cNvPr id="6" name="Línea de vida :Originator"/>
          <p:cNvSpPr/>
          <p:nvPr/>
        </p:nvSpPr>
        <p:spPr>
          <a:xfrm>
            <a:off x="4572000" y="1783080"/>
            <a:ext cx="0" cy="2286000"/>
          </a:xfrm>
          <a:prstGeom prst="line">
            <a:avLst/>
          </a:prstGeom>
          <a:noFill/>
          <a:ln w="12700">
            <a:solidFill>
              <a:schemeClr val="accent6"/>
            </a:solidFill>
            <a:prstDash val="dash"/>
          </a:ln>
        </p:spPr>
      </p:sp>
      <p:sp>
        <p:nvSpPr>
          <p:cNvPr id="7" name="Cabecera :Originator"/>
          <p:cNvSpPr/>
          <p:nvPr/>
        </p:nvSpPr>
        <p:spPr>
          <a:xfrm>
            <a:off x="3566160" y="1371600"/>
            <a:ext cx="2011680" cy="411480"/>
          </a:xfrm>
          <a:prstGeom prst="rect">
            <a:avLst/>
          </a:prstGeom>
          <a:solidFill>
            <a:schemeClr val="accent4"/>
          </a:solidFill>
          <a:ln w="15875">
            <a:solidFill>
              <a:schemeClr val="tx2"/>
            </a:solidFill>
            <a:prstDash val="solid"/>
          </a:ln>
        </p:spPr>
      </p:sp>
      <p:sp>
        <p:nvSpPr>
          <p:cNvPr id="8" name="Nombre :Originator"/>
          <p:cNvSpPr txBox="1"/>
          <p:nvPr/>
        </p:nvSpPr>
        <p:spPr>
          <a:xfrm>
            <a:off x="3566160" y="13716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:Originator</a:t>
            </a:r>
            <a:endParaRPr lang="en-US" sz="1400" dirty="0"/>
          </a:p>
        </p:txBody>
      </p:sp>
      <p:sp>
        <p:nvSpPr>
          <p:cNvPr id="9" name="Línea de vida :Memento"/>
          <p:cNvSpPr/>
          <p:nvPr/>
        </p:nvSpPr>
        <p:spPr>
          <a:xfrm>
            <a:off x="7406640" y="1783080"/>
            <a:ext cx="0" cy="2286000"/>
          </a:xfrm>
          <a:prstGeom prst="line">
            <a:avLst/>
          </a:prstGeom>
          <a:noFill/>
          <a:ln w="12700">
            <a:solidFill>
              <a:schemeClr val="accent6"/>
            </a:solidFill>
            <a:prstDash val="dash"/>
          </a:ln>
        </p:spPr>
      </p:sp>
      <p:sp>
        <p:nvSpPr>
          <p:cNvPr id="10" name="Cabecera :Memento"/>
          <p:cNvSpPr/>
          <p:nvPr/>
        </p:nvSpPr>
        <p:spPr>
          <a:xfrm>
            <a:off x="6400800" y="1371600"/>
            <a:ext cx="2011680" cy="411480"/>
          </a:xfrm>
          <a:prstGeom prst="rect">
            <a:avLst/>
          </a:prstGeom>
          <a:solidFill>
            <a:schemeClr val="accent1"/>
          </a:solidFill>
          <a:ln w="15875">
            <a:solidFill>
              <a:schemeClr val="tx2"/>
            </a:solidFill>
            <a:prstDash val="solid"/>
          </a:ln>
        </p:spPr>
      </p:sp>
      <p:sp>
        <p:nvSpPr>
          <p:cNvPr id="11" name="Nombre :Memento"/>
          <p:cNvSpPr txBox="1"/>
          <p:nvPr/>
        </p:nvSpPr>
        <p:spPr>
          <a:xfrm>
            <a:off x="6400800" y="13716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:Memento</a:t>
            </a:r>
            <a:endParaRPr lang="en-US" sz="1400" dirty="0"/>
          </a:p>
        </p:txBody>
      </p:sp>
      <p:sp>
        <p:nvSpPr>
          <p:cNvPr id="12" name="Flecha"/>
          <p:cNvSpPr/>
          <p:nvPr/>
        </p:nvSpPr>
        <p:spPr>
          <a:xfrm>
            <a:off x="1737360" y="2103120"/>
            <a:ext cx="2834640" cy="0"/>
          </a:xfrm>
          <a:prstGeom prst="line">
            <a:avLst/>
          </a:prstGeom>
          <a:noFill/>
          <a:ln w="19050">
            <a:solidFill>
              <a:schemeClr val="tx2"/>
            </a:solidFill>
            <a:prstDash val="solid"/>
            <a:tailEnd type="triangle"/>
          </a:ln>
        </p:spPr>
      </p:sp>
      <p:sp>
        <p:nvSpPr>
          <p:cNvPr id="13" name="Mensaje CreateMemento()"/>
          <p:cNvSpPr txBox="1"/>
          <p:nvPr/>
        </p:nvSpPr>
        <p:spPr>
          <a:xfrm>
            <a:off x="1737360" y="1847088"/>
            <a:ext cx="2834640" cy="228600"/>
          </a:xfrm>
          <a:prstGeom prst="rect">
            <a:avLst/>
          </a:prstGeom>
          <a:noFill/>
          <a:ln/>
        </p:spPr>
        <p:txBody>
          <a:bodyPr wrap="square" lIns="0" tIns="0" rIns="0" bIns="0" rtlCol="0" anchor="t"/>
          <a:lstStyle/>
          <a:p>
            <a:pPr algn="ctr" indent="0" marL="0">
              <a:buNone/>
            </a:pPr>
            <a:r>
              <a:rPr lang="en-US" sz="1200" dirty="0">
                <a:solidFill>
                  <a:schemeClr val="tx1"/>
                </a:solidFill>
              </a:rPr>
              <a:t>CreateMemento()</a:t>
            </a:r>
            <a:endParaRPr lang="en-US" sz="1200" dirty="0"/>
          </a:p>
        </p:txBody>
      </p:sp>
      <p:sp>
        <p:nvSpPr>
          <p:cNvPr id="14" name="Flecha"/>
          <p:cNvSpPr/>
          <p:nvPr/>
        </p:nvSpPr>
        <p:spPr>
          <a:xfrm>
            <a:off x="4572000" y="2423160"/>
            <a:ext cx="2834640" cy="0"/>
          </a:xfrm>
          <a:prstGeom prst="line">
            <a:avLst/>
          </a:prstGeom>
          <a:noFill/>
          <a:ln w="19050">
            <a:solidFill>
              <a:schemeClr val="tx2"/>
            </a:solidFill>
            <a:prstDash val="solid"/>
            <a:tailEnd type="triangle"/>
          </a:ln>
        </p:spPr>
      </p:sp>
      <p:sp>
        <p:nvSpPr>
          <p:cNvPr id="15" name="Mensaje new Memento"/>
          <p:cNvSpPr txBox="1"/>
          <p:nvPr/>
        </p:nvSpPr>
        <p:spPr>
          <a:xfrm>
            <a:off x="4572000" y="2167128"/>
            <a:ext cx="2834640" cy="228600"/>
          </a:xfrm>
          <a:prstGeom prst="rect">
            <a:avLst/>
          </a:prstGeom>
          <a:noFill/>
          <a:ln/>
        </p:spPr>
        <p:txBody>
          <a:bodyPr wrap="square" lIns="0" tIns="0" rIns="0" bIns="0" rtlCol="0" anchor="t"/>
          <a:lstStyle/>
          <a:p>
            <a:pPr algn="ctr" indent="0" marL="0">
              <a:buNone/>
            </a:pPr>
            <a:r>
              <a:rPr lang="en-US" sz="1200" dirty="0">
                <a:solidFill>
                  <a:schemeClr val="tx1"/>
                </a:solidFill>
              </a:rPr>
              <a:t>new Memento</a:t>
            </a:r>
            <a:endParaRPr lang="en-US" sz="1200" dirty="0"/>
          </a:p>
        </p:txBody>
      </p:sp>
      <p:sp>
        <p:nvSpPr>
          <p:cNvPr id="16" name="Flecha"/>
          <p:cNvSpPr/>
          <p:nvPr/>
        </p:nvSpPr>
        <p:spPr>
          <a:xfrm>
            <a:off x="4572000" y="2743200"/>
            <a:ext cx="2834640" cy="0"/>
          </a:xfrm>
          <a:prstGeom prst="line">
            <a:avLst/>
          </a:prstGeom>
          <a:noFill/>
          <a:ln w="19050">
            <a:solidFill>
              <a:schemeClr val="tx2"/>
            </a:solidFill>
            <a:prstDash val="solid"/>
            <a:tailEnd type="triangle"/>
          </a:ln>
        </p:spPr>
      </p:sp>
      <p:sp>
        <p:nvSpPr>
          <p:cNvPr id="17" name="Mensaje SetState()"/>
          <p:cNvSpPr txBox="1"/>
          <p:nvPr/>
        </p:nvSpPr>
        <p:spPr>
          <a:xfrm>
            <a:off x="4572000" y="2487168"/>
            <a:ext cx="2834640" cy="228600"/>
          </a:xfrm>
          <a:prstGeom prst="rect">
            <a:avLst/>
          </a:prstGeom>
          <a:noFill/>
          <a:ln/>
        </p:spPr>
        <p:txBody>
          <a:bodyPr wrap="square" lIns="0" tIns="0" rIns="0" bIns="0" rtlCol="0" anchor="t"/>
          <a:lstStyle/>
          <a:p>
            <a:pPr algn="ctr" indent="0" marL="0">
              <a:buNone/>
            </a:pPr>
            <a:r>
              <a:rPr lang="en-US" sz="1200" dirty="0">
                <a:solidFill>
                  <a:schemeClr val="tx1"/>
                </a:solidFill>
              </a:rPr>
              <a:t>SetState()</a:t>
            </a:r>
            <a:endParaRPr lang="en-US" sz="1200" dirty="0"/>
          </a:p>
        </p:txBody>
      </p:sp>
      <p:sp>
        <p:nvSpPr>
          <p:cNvPr id="18" name="Flecha"/>
          <p:cNvSpPr/>
          <p:nvPr/>
        </p:nvSpPr>
        <p:spPr>
          <a:xfrm flipH="1">
            <a:off x="1737360" y="3063240"/>
            <a:ext cx="2834640" cy="0"/>
          </a:xfrm>
          <a:prstGeom prst="line">
            <a:avLst/>
          </a:prstGeom>
          <a:noFill/>
          <a:ln w="19050">
            <a:solidFill>
              <a:schemeClr val="tx2"/>
            </a:solidFill>
            <a:prstDash val="dash"/>
            <a:tailEnd type="triangle"/>
          </a:ln>
        </p:spPr>
      </p:sp>
      <p:sp>
        <p:nvSpPr>
          <p:cNvPr id="19" name="Mensaje memento"/>
          <p:cNvSpPr txBox="1"/>
          <p:nvPr/>
        </p:nvSpPr>
        <p:spPr>
          <a:xfrm>
            <a:off x="1737360" y="2807208"/>
            <a:ext cx="2834640" cy="228600"/>
          </a:xfrm>
          <a:prstGeom prst="rect">
            <a:avLst/>
          </a:prstGeom>
          <a:noFill/>
          <a:ln/>
        </p:spPr>
        <p:txBody>
          <a:bodyPr wrap="square" lIns="0" tIns="0" rIns="0" bIns="0" rtlCol="0" anchor="t"/>
          <a:lstStyle/>
          <a:p>
            <a:pPr algn="ctr" indent="0" marL="0">
              <a:buNone/>
            </a:pPr>
            <a:r>
              <a:rPr lang="en-US" sz="1200" dirty="0">
                <a:solidFill>
                  <a:schemeClr val="tx1"/>
                </a:solidFill>
              </a:rPr>
              <a:t>memento</a:t>
            </a:r>
            <a:endParaRPr lang="en-US" sz="1200" dirty="0"/>
          </a:p>
        </p:txBody>
      </p:sp>
      <p:sp>
        <p:nvSpPr>
          <p:cNvPr id="20" name="Flecha"/>
          <p:cNvSpPr/>
          <p:nvPr/>
        </p:nvSpPr>
        <p:spPr>
          <a:xfrm>
            <a:off x="1737360" y="3611880"/>
            <a:ext cx="2834640" cy="0"/>
          </a:xfrm>
          <a:prstGeom prst="line">
            <a:avLst/>
          </a:prstGeom>
          <a:noFill/>
          <a:ln w="19050">
            <a:solidFill>
              <a:schemeClr val="tx2"/>
            </a:solidFill>
            <a:prstDash val="solid"/>
            <a:tailEnd type="triangle"/>
          </a:ln>
        </p:spPr>
      </p:sp>
      <p:sp>
        <p:nvSpPr>
          <p:cNvPr id="21" name="Mensaje SetMemento(memento)"/>
          <p:cNvSpPr txBox="1"/>
          <p:nvPr/>
        </p:nvSpPr>
        <p:spPr>
          <a:xfrm>
            <a:off x="1737360" y="3355848"/>
            <a:ext cx="2834640" cy="228600"/>
          </a:xfrm>
          <a:prstGeom prst="rect">
            <a:avLst/>
          </a:prstGeom>
          <a:noFill/>
          <a:ln/>
        </p:spPr>
        <p:txBody>
          <a:bodyPr wrap="square" lIns="0" tIns="0" rIns="0" bIns="0" rtlCol="0" anchor="t"/>
          <a:lstStyle/>
          <a:p>
            <a:pPr algn="ctr" indent="0" marL="0">
              <a:buNone/>
            </a:pPr>
            <a:r>
              <a:rPr lang="en-US" sz="1200" dirty="0">
                <a:solidFill>
                  <a:schemeClr val="tx1"/>
                </a:solidFill>
              </a:rPr>
              <a:t>SetMemento(memento)</a:t>
            </a:r>
            <a:endParaRPr lang="en-US" sz="1200" dirty="0"/>
          </a:p>
        </p:txBody>
      </p:sp>
      <p:sp>
        <p:nvSpPr>
          <p:cNvPr id="22" name="Flecha"/>
          <p:cNvSpPr/>
          <p:nvPr/>
        </p:nvSpPr>
        <p:spPr>
          <a:xfrm>
            <a:off x="4572000" y="3931920"/>
            <a:ext cx="2834640" cy="0"/>
          </a:xfrm>
          <a:prstGeom prst="line">
            <a:avLst/>
          </a:prstGeom>
          <a:noFill/>
          <a:ln w="19050">
            <a:solidFill>
              <a:schemeClr val="tx2"/>
            </a:solidFill>
            <a:prstDash val="solid"/>
            <a:tailEnd type="triangle"/>
          </a:ln>
        </p:spPr>
      </p:sp>
      <p:sp>
        <p:nvSpPr>
          <p:cNvPr id="23" name="Mensaje GetState()"/>
          <p:cNvSpPr txBox="1"/>
          <p:nvPr/>
        </p:nvSpPr>
        <p:spPr>
          <a:xfrm>
            <a:off x="4572000" y="3675888"/>
            <a:ext cx="2834640" cy="228600"/>
          </a:xfrm>
          <a:prstGeom prst="rect">
            <a:avLst/>
          </a:prstGeom>
          <a:noFill/>
          <a:ln/>
        </p:spPr>
        <p:txBody>
          <a:bodyPr wrap="square" lIns="0" tIns="0" rIns="0" bIns="0" rtlCol="0" anchor="t"/>
          <a:lstStyle/>
          <a:p>
            <a:pPr algn="ctr" indent="0" marL="0">
              <a:buNone/>
            </a:pPr>
            <a:r>
              <a:rPr lang="en-US" sz="1200" dirty="0">
                <a:solidFill>
                  <a:schemeClr val="tx1"/>
                </a:solidFill>
              </a:rPr>
              <a:t>GetState()</a:t>
            </a:r>
            <a:endParaRPr lang="en-US" sz="1200" dirty="0"/>
          </a:p>
        </p:txBody>
      </p:sp>
      <p:sp>
        <p:nvSpPr>
          <p:cNvPr id="24" name="Nota espera"/>
          <p:cNvSpPr txBox="1"/>
          <p:nvPr/>
        </p:nvSpPr>
        <p:spPr>
          <a:xfrm>
            <a:off x="640080" y="3108960"/>
            <a:ext cx="3108960" cy="228600"/>
          </a:xfrm>
          <a:prstGeom prst="rect">
            <a:avLst/>
          </a:prstGeom>
          <a:solidFill>
            <a:schemeClr val="bg1"/>
          </a:solidFill>
          <a:ln/>
        </p:spPr>
        <p:txBody>
          <a:bodyPr wrap="square" lIns="0" tIns="0" rIns="0" bIns="0" rtlCol="0" anchor="ctr"/>
          <a:lstStyle/>
          <a:p>
            <a:pPr algn="ctr" indent="0" marL="0">
              <a:buNone/>
            </a:pPr>
            <a:r>
              <a:rPr lang="en-US" sz="1200" i="1" dirty="0">
                <a:solidFill>
                  <a:schemeClr val="accent6"/>
                </a:solidFill>
              </a:rPr>
              <a:t>el caretaker lo conserva un tiempo</a:t>
            </a:r>
            <a:endParaRPr lang="en-US" sz="1200" dirty="0"/>
          </a:p>
        </p:txBody>
      </p:sp>
      <p:sp>
        <p:nvSpPr>
          <p:cNvPr id="25" name="Banner"/>
          <p:cNvSpPr/>
          <p:nvPr/>
        </p:nvSpPr>
        <p:spPr>
          <a:xfrm>
            <a:off x="548640" y="4160520"/>
            <a:ext cx="8046720" cy="411480"/>
          </a:xfrm>
          <a:prstGeom prst="roundRect">
            <a:avLst>
              <a:gd name="adj" fmla="val 26667"/>
            </a:avLst>
          </a:prstGeom>
          <a:solidFill>
            <a:schemeClr val="tx2"/>
          </a:solidFill>
          <a:ln/>
        </p:spPr>
      </p:sp>
      <p:sp>
        <p:nvSpPr>
          <p:cNvPr id="26" name="Texto banner"/>
          <p:cNvSpPr txBox="1"/>
          <p:nvPr/>
        </p:nvSpPr>
        <p:spPr>
          <a:xfrm>
            <a:off x="777240" y="4160520"/>
            <a:ext cx="7589520" cy="411480"/>
          </a:xfrm>
          <a:prstGeom prst="rect">
            <a:avLst/>
          </a:prstGeom>
          <a:noFill/>
          <a:ln/>
        </p:spPr>
        <p:txBody>
          <a:bodyPr wrap="square" lIns="0" tIns="0" rIns="0" bIns="0" rtlCol="0" anchor="ctr"/>
          <a:lstStyle/>
          <a:p>
            <a:pPr indent="0" marL="0">
              <a:buNone/>
            </a:pPr>
            <a:r>
              <a:rPr lang="en-US" sz="1400" b="1" dirty="0">
                <a:solidFill>
                  <a:schemeClr val="bg1"/>
                </a:solidFill>
              </a:rPr>
              <a:t>Los mementos son pasivos: solo el originator que lo creó asigna o recupera su estado.</a:t>
            </a:r>
            <a:endParaRPr lang="en-US" sz="1400" dirty="0"/>
          </a:p>
        </p:txBody>
      </p:sp>
      <p:sp>
        <p:nvSpPr>
          <p:cNvPr id="27" name="Fuente"/>
          <p:cNvSpPr txBox="1"/>
          <p:nvPr/>
        </p:nvSpPr>
        <p:spPr>
          <a:xfrm>
            <a:off x="548640" y="4663440"/>
            <a:ext cx="8046720" cy="228600"/>
          </a:xfrm>
          <a:prstGeom prst="rect">
            <a:avLst/>
          </a:prstGeom>
          <a:noFill/>
          <a:ln/>
        </p:spPr>
        <p:txBody>
          <a:bodyPr wrap="square" lIns="0" tIns="0" rIns="0" bIns="0" rtlCol="0" anchor="t"/>
          <a:lstStyle/>
          <a:p>
            <a:pPr indent="0" marL="0">
              <a:buNone/>
            </a:pPr>
            <a:r>
              <a:rPr lang="en-US" sz="1000" dirty="0">
                <a:solidFill>
                  <a:schemeClr val="accent6"/>
                </a:solidFill>
              </a:rPr>
              <a:t>Diagrama elaborado a partir de la interacción de Gamma, Helm, Johnson y Vlissides (1994). Design Patterns.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Consecuencias</a:t>
            </a:r>
            <a:endParaRPr lang="en-US" sz="3600" dirty="0"/>
          </a:p>
        </p:txBody>
      </p:sp>
      <p:sp>
        <p:nvSpPr>
          <p:cNvPr id="3" name="Tarjeta beneficios"/>
          <p:cNvSpPr/>
          <p:nvPr/>
        </p:nvSpPr>
        <p:spPr>
          <a:xfrm>
            <a:off x="548640" y="1371600"/>
            <a:ext cx="3931920" cy="2697480"/>
          </a:xfrm>
          <a:prstGeom prst="roundRect">
            <a:avLst>
              <a:gd name="adj" fmla="val 4068"/>
            </a:avLst>
          </a:prstGeom>
          <a:solidFill>
            <a:schemeClr val="bg2"/>
          </a:solidFill>
          <a:ln/>
        </p:spPr>
      </p:sp>
      <p:sp>
        <p:nvSpPr>
          <p:cNvPr id="4" name="Etiqueta BENEFICIOS"/>
          <p:cNvSpPr txBox="1"/>
          <p:nvPr/>
        </p:nvSpPr>
        <p:spPr>
          <a:xfrm>
            <a:off x="777240" y="1508760"/>
            <a:ext cx="347472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BENEFICIOS</a:t>
            </a:r>
            <a:endParaRPr lang="en-US" sz="1200" dirty="0"/>
          </a:p>
        </p:txBody>
      </p:sp>
      <p:sp>
        <p:nvSpPr>
          <p:cNvPr id="5" name="Beneficio 1"/>
          <p:cNvSpPr txBox="1"/>
          <p:nvPr/>
        </p:nvSpPr>
        <p:spPr>
          <a:xfrm>
            <a:off x="777240" y="1828800"/>
            <a:ext cx="3474720" cy="1097280"/>
          </a:xfrm>
          <a:prstGeom prst="rect">
            <a:avLst/>
          </a:prstGeom>
          <a:noFill/>
          <a:ln/>
        </p:spPr>
        <p:txBody>
          <a:bodyPr wrap="square" lIns="0" tIns="0" rIns="0" bIns="0" rtlCol="0" anchor="t"/>
          <a:lstStyle/>
          <a:p>
            <a:pPr indent="0" marL="0">
              <a:buNone/>
            </a:pPr>
            <a:r>
              <a:rPr lang="en-US" sz="1400" b="1" dirty="0">
                <a:solidFill>
                  <a:schemeClr val="tx2"/>
                </a:solidFill>
              </a:rPr>
              <a:t>Preserva los límites del encapsulamiento</a:t>
            </a:r>
            <a:endParaRPr lang="en-US" sz="1400" dirty="0"/>
          </a:p>
          <a:p>
            <a:pPr indent="0" marL="0">
              <a:buNone/>
            </a:pPr>
            <a:r>
              <a:rPr lang="en-US" sz="1400" dirty="0">
                <a:solidFill>
                  <a:schemeClr val="tx1"/>
                </a:solidFill>
              </a:rPr>
              <a:t>Evita exponer lo que solo el originator debe gestionar y protege a los demás de sus detalles internos.</a:t>
            </a:r>
            <a:endParaRPr lang="en-US" sz="1400" dirty="0"/>
          </a:p>
        </p:txBody>
      </p:sp>
      <p:sp>
        <p:nvSpPr>
          <p:cNvPr id="6" name="Beneficio 2"/>
          <p:cNvSpPr txBox="1"/>
          <p:nvPr/>
        </p:nvSpPr>
        <p:spPr>
          <a:xfrm>
            <a:off x="777240" y="2971800"/>
            <a:ext cx="3474720" cy="1005840"/>
          </a:xfrm>
          <a:prstGeom prst="rect">
            <a:avLst/>
          </a:prstGeom>
          <a:noFill/>
          <a:ln/>
        </p:spPr>
        <p:txBody>
          <a:bodyPr wrap="square" lIns="0" tIns="0" rIns="0" bIns="0" rtlCol="0" anchor="t"/>
          <a:lstStyle/>
          <a:p>
            <a:pPr indent="0" marL="0">
              <a:buNone/>
            </a:pPr>
            <a:r>
              <a:rPr lang="en-US" sz="1400" b="1" dirty="0">
                <a:solidFill>
                  <a:schemeClr val="tx2"/>
                </a:solidFill>
              </a:rPr>
              <a:t>Simplifica al Originator</a:t>
            </a:r>
            <a:endParaRPr lang="en-US" sz="1400" dirty="0"/>
          </a:p>
          <a:p>
            <a:pPr indent="0" marL="0">
              <a:buNone/>
            </a:pPr>
            <a:r>
              <a:rPr lang="en-US" sz="1400" dirty="0">
                <a:solidFill>
                  <a:schemeClr val="tx1"/>
                </a:solidFill>
              </a:rPr>
              <a:t>Los clientes gestionan las versiones de estado que piden, así que el originator no carga con el almacenamiento.</a:t>
            </a:r>
            <a:endParaRPr lang="en-US" sz="1400" dirty="0"/>
          </a:p>
        </p:txBody>
      </p:sp>
      <p:sp>
        <p:nvSpPr>
          <p:cNvPr id="7" name="Tarjeta costos"/>
          <p:cNvSpPr/>
          <p:nvPr/>
        </p:nvSpPr>
        <p:spPr>
          <a:xfrm>
            <a:off x="4663440" y="1371600"/>
            <a:ext cx="3931920" cy="2697480"/>
          </a:xfrm>
          <a:prstGeom prst="roundRect">
            <a:avLst>
              <a:gd name="adj" fmla="val 4068"/>
            </a:avLst>
          </a:prstGeom>
          <a:solidFill>
            <a:schemeClr val="accent3">
              <a:alpha val="15000"/>
            </a:schemeClr>
          </a:solidFill>
          <a:ln/>
        </p:spPr>
      </p:sp>
      <p:sp>
        <p:nvSpPr>
          <p:cNvPr id="8" name="Etiqueta COSTOS Y RIESGOS"/>
          <p:cNvSpPr txBox="1"/>
          <p:nvPr/>
        </p:nvSpPr>
        <p:spPr>
          <a:xfrm>
            <a:off x="4892040" y="1508760"/>
            <a:ext cx="3474720" cy="228600"/>
          </a:xfrm>
          <a:prstGeom prst="rect">
            <a:avLst/>
          </a:prstGeom>
          <a:noFill/>
          <a:ln/>
        </p:spPr>
        <p:txBody>
          <a:bodyPr wrap="square" lIns="0" tIns="0" rIns="0" bIns="0" rtlCol="0" anchor="t"/>
          <a:lstStyle/>
          <a:p>
            <a:pPr indent="0" marL="0">
              <a:buNone/>
            </a:pPr>
            <a:r>
              <a:rPr lang="en-US" sz="1200" b="1" spc="200" kern="0" dirty="0">
                <a:solidFill>
                  <a:schemeClr val="accent3"/>
                </a:solidFill>
              </a:rPr>
              <a:t>COSTOS Y RIESGOS</a:t>
            </a:r>
            <a:endParaRPr lang="en-US" sz="1200" dirty="0"/>
          </a:p>
        </p:txBody>
      </p:sp>
      <p:sp>
        <p:nvSpPr>
          <p:cNvPr id="9" name="Costo 1"/>
          <p:cNvSpPr txBox="1"/>
          <p:nvPr/>
        </p:nvSpPr>
        <p:spPr>
          <a:xfrm>
            <a:off x="4892040" y="1828800"/>
            <a:ext cx="3474720" cy="731520"/>
          </a:xfrm>
          <a:prstGeom prst="rect">
            <a:avLst/>
          </a:prstGeom>
          <a:noFill/>
          <a:ln/>
        </p:spPr>
        <p:txBody>
          <a:bodyPr wrap="square" lIns="0" tIns="0" rIns="0" bIns="0" rtlCol="0" anchor="t"/>
          <a:lstStyle/>
          <a:p>
            <a:pPr indent="0" marL="0">
              <a:buNone/>
            </a:pPr>
            <a:r>
              <a:rPr lang="en-US" sz="1400" b="1" dirty="0">
                <a:solidFill>
                  <a:schemeClr val="tx2"/>
                </a:solidFill>
              </a:rPr>
              <a:t>Puede ser costoso</a:t>
            </a:r>
            <a:endParaRPr lang="en-US" sz="1400" dirty="0"/>
          </a:p>
          <a:p>
            <a:pPr indent="0" marL="0">
              <a:buNone/>
            </a:pPr>
            <a:r>
              <a:rPr lang="en-US" sz="1400" dirty="0">
                <a:solidFill>
                  <a:schemeClr val="tx1"/>
                </a:solidFill>
              </a:rPr>
              <a:t>Copiar mucho estado o crear mementos con frecuencia añade sobrecarga.</a:t>
            </a:r>
            <a:endParaRPr lang="en-US" sz="1400" dirty="0"/>
          </a:p>
        </p:txBody>
      </p:sp>
      <p:sp>
        <p:nvSpPr>
          <p:cNvPr id="10" name="Costo 2"/>
          <p:cNvSpPr txBox="1"/>
          <p:nvPr/>
        </p:nvSpPr>
        <p:spPr>
          <a:xfrm>
            <a:off x="4892040" y="2578608"/>
            <a:ext cx="3474720" cy="731520"/>
          </a:xfrm>
          <a:prstGeom prst="rect">
            <a:avLst/>
          </a:prstGeom>
          <a:noFill/>
          <a:ln/>
        </p:spPr>
        <p:txBody>
          <a:bodyPr wrap="square" lIns="0" tIns="0" rIns="0" bIns="0" rtlCol="0" anchor="t"/>
          <a:lstStyle/>
          <a:p>
            <a:pPr indent="0" marL="0">
              <a:buNone/>
            </a:pPr>
            <a:r>
              <a:rPr lang="en-US" sz="1400" b="1" dirty="0">
                <a:solidFill>
                  <a:schemeClr val="tx2"/>
                </a:solidFill>
              </a:rPr>
              <a:t>Interfaces ancha y estrecha</a:t>
            </a:r>
            <a:endParaRPr lang="en-US" sz="1400" dirty="0"/>
          </a:p>
          <a:p>
            <a:pPr indent="0" marL="0">
              <a:buNone/>
            </a:pPr>
            <a:r>
              <a:rPr lang="en-US" sz="1400" dirty="0">
                <a:solidFill>
                  <a:schemeClr val="tx1"/>
                </a:solidFill>
              </a:rPr>
              <a:t>En algunos lenguajes es difícil garantizar que solo el originator acceda.</a:t>
            </a:r>
            <a:endParaRPr lang="en-US" sz="1400" dirty="0"/>
          </a:p>
        </p:txBody>
      </p:sp>
      <p:sp>
        <p:nvSpPr>
          <p:cNvPr id="11" name="Costo 3"/>
          <p:cNvSpPr txBox="1"/>
          <p:nvPr/>
        </p:nvSpPr>
        <p:spPr>
          <a:xfrm>
            <a:off x="4892040" y="3328416"/>
            <a:ext cx="3474720" cy="731520"/>
          </a:xfrm>
          <a:prstGeom prst="rect">
            <a:avLst/>
          </a:prstGeom>
          <a:noFill/>
          <a:ln/>
        </p:spPr>
        <p:txBody>
          <a:bodyPr wrap="square" lIns="0" tIns="0" rIns="0" bIns="0" rtlCol="0" anchor="t"/>
          <a:lstStyle/>
          <a:p>
            <a:pPr indent="0" marL="0">
              <a:buNone/>
            </a:pPr>
            <a:r>
              <a:rPr lang="en-US" sz="1400" b="1" dirty="0">
                <a:solidFill>
                  <a:schemeClr val="tx2"/>
                </a:solidFill>
              </a:rPr>
              <a:t>Costos ocultos de custodia</a:t>
            </a:r>
            <a:endParaRPr lang="en-US" sz="1400" dirty="0"/>
          </a:p>
          <a:p>
            <a:pPr indent="0" marL="0">
              <a:buNone/>
            </a:pPr>
            <a:r>
              <a:rPr lang="en-US" sz="1400" dirty="0">
                <a:solidFill>
                  <a:schemeClr val="tx1"/>
                </a:solidFill>
              </a:rPr>
              <a:t>El caretaker debe borrarlos pero no sabe cuánto estado guarda cada uno.</a:t>
            </a:r>
            <a:endParaRPr lang="en-US" sz="1400" dirty="0"/>
          </a:p>
        </p:txBody>
      </p:sp>
      <p:sp>
        <p:nvSpPr>
          <p:cNvPr id="12" name="Banner"/>
          <p:cNvSpPr/>
          <p:nvPr/>
        </p:nvSpPr>
        <p:spPr>
          <a:xfrm>
            <a:off x="548640" y="4160520"/>
            <a:ext cx="8046720" cy="411480"/>
          </a:xfrm>
          <a:prstGeom prst="roundRect">
            <a:avLst>
              <a:gd name="adj" fmla="val 26667"/>
            </a:avLst>
          </a:prstGeom>
          <a:solidFill>
            <a:schemeClr val="tx2"/>
          </a:solidFill>
          <a:ln/>
        </p:spPr>
      </p:sp>
      <p:sp>
        <p:nvSpPr>
          <p:cNvPr id="13" name="Texto banner"/>
          <p:cNvSpPr txBox="1"/>
          <p:nvPr/>
        </p:nvSpPr>
        <p:spPr>
          <a:xfrm>
            <a:off x="777240" y="4160520"/>
            <a:ext cx="7589520" cy="411480"/>
          </a:xfrm>
          <a:prstGeom prst="rect">
            <a:avLst/>
          </a:prstGeom>
          <a:noFill/>
          <a:ln/>
        </p:spPr>
        <p:txBody>
          <a:bodyPr wrap="square" lIns="0" tIns="0" rIns="0" bIns="0" rtlCol="0" anchor="ctr"/>
          <a:lstStyle/>
          <a:p>
            <a:pPr indent="0" marL="0">
              <a:buNone/>
            </a:pPr>
            <a:r>
              <a:rPr lang="en-US" sz="1400" b="1" dirty="0">
                <a:solidFill>
                  <a:schemeClr val="bg1"/>
                </a:solidFill>
              </a:rPr>
              <a:t>Si encapsular y restaurar el estado no es barato, el patrón puede no ser apropiado.</a:t>
            </a:r>
            <a:endParaRPr lang="en-US" sz="1400" dirty="0"/>
          </a:p>
        </p:txBody>
      </p:sp>
      <p:sp>
        <p:nvSpPr>
          <p:cNvPr id="14" name="Fuente"/>
          <p:cNvSpPr txBox="1"/>
          <p:nvPr/>
        </p:nvSpPr>
        <p:spPr>
          <a:xfrm>
            <a:off x="548640" y="4663440"/>
            <a:ext cx="8046720" cy="228600"/>
          </a:xfrm>
          <a:prstGeom prst="rect">
            <a:avLst/>
          </a:prstGeom>
          <a:noFill/>
          <a:ln/>
        </p:spPr>
        <p:txBody>
          <a:bodyPr wrap="square" lIns="0" tIns="0" rIns="0" bIns="0" rtlCol="0" anchor="t"/>
          <a:lstStyle/>
          <a:p>
            <a:pPr indent="0" marL="0">
              <a:buNone/>
            </a:pPr>
            <a:r>
              <a:rPr lang="en-US" sz="1000" dirty="0">
                <a:solidFill>
                  <a:schemeClr val="accent6"/>
                </a:solidFill>
              </a:rPr>
              <a:t>Fuente: Gamma, Helm, Johnson y Vlissides (1994). Design Patterns, capítulo Memento.</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Aplicación en el módulo GDA</a:t>
            </a:r>
            <a:endParaRPr lang="en-US" sz="3600" dirty="0"/>
          </a:p>
        </p:txBody>
      </p:sp>
      <p:sp>
        <p:nvSpPr>
          <p:cNvPr id="3" name="Tarjeta requisito"/>
          <p:cNvSpPr/>
          <p:nvPr/>
        </p:nvSpPr>
        <p:spPr>
          <a:xfrm>
            <a:off x="548640" y="1371600"/>
            <a:ext cx="3291840" cy="2788920"/>
          </a:xfrm>
          <a:prstGeom prst="roundRect">
            <a:avLst>
              <a:gd name="adj" fmla="val 3934"/>
            </a:avLst>
          </a:prstGeom>
          <a:solidFill>
            <a:schemeClr val="bg2"/>
          </a:solidFill>
          <a:ln/>
        </p:spPr>
      </p:sp>
      <p:sp>
        <p:nvSpPr>
          <p:cNvPr id="4" name="Etiqueta REQUISITO"/>
          <p:cNvSpPr txBox="1"/>
          <p:nvPr/>
        </p:nvSpPr>
        <p:spPr>
          <a:xfrm>
            <a:off x="777240" y="1508760"/>
            <a:ext cx="283464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REQUISITO</a:t>
            </a:r>
            <a:endParaRPr lang="en-US" sz="1200" dirty="0"/>
          </a:p>
        </p:txBody>
      </p:sp>
      <p:sp>
        <p:nvSpPr>
          <p:cNvPr id="5" name="Texto requisito"/>
          <p:cNvSpPr txBox="1"/>
          <p:nvPr/>
        </p:nvSpPr>
        <p:spPr>
          <a:xfrm>
            <a:off x="777240" y="1783080"/>
            <a:ext cx="2834640" cy="1005840"/>
          </a:xfrm>
          <a:prstGeom prst="rect">
            <a:avLst/>
          </a:prstGeom>
          <a:noFill/>
          <a:ln/>
        </p:spPr>
        <p:txBody>
          <a:bodyPr wrap="square" lIns="0" tIns="0" rIns="0" bIns="0" rtlCol="0" anchor="t"/>
          <a:lstStyle/>
          <a:p>
            <a:pPr indent="0" marL="0">
              <a:buNone/>
            </a:pPr>
            <a:r>
              <a:rPr lang="en-US" sz="1400" b="1" dirty="0">
                <a:solidFill>
                  <a:schemeClr val="tx2"/>
                </a:solidFill>
              </a:rPr>
              <a:t>RF-GDA-09: control de versiones</a:t>
            </a:r>
            <a:endParaRPr lang="en-US" sz="1400" dirty="0"/>
          </a:p>
          <a:p>
            <a:pPr indent="0" marL="0">
              <a:buNone/>
            </a:pPr>
            <a:r>
              <a:rPr lang="en-US" sz="1400" dirty="0">
                <a:solidFill>
                  <a:schemeClr val="tx1"/>
                </a:solidFill>
              </a:rPr>
              <a:t>Mantener el historial de modificaciones y permitir restaurar versiones previas.</a:t>
            </a:r>
            <a:endParaRPr lang="en-US" sz="1400" dirty="0"/>
          </a:p>
        </p:txBody>
      </p:sp>
      <p:sp>
        <p:nvSpPr>
          <p:cNvPr id="6" name="Etiqueta NORMATIVA"/>
          <p:cNvSpPr txBox="1"/>
          <p:nvPr/>
        </p:nvSpPr>
        <p:spPr>
          <a:xfrm>
            <a:off x="777240" y="2926080"/>
            <a:ext cx="2834640" cy="228600"/>
          </a:xfrm>
          <a:prstGeom prst="rect">
            <a:avLst/>
          </a:prstGeom>
          <a:noFill/>
          <a:ln/>
        </p:spPr>
        <p:txBody>
          <a:bodyPr wrap="square" lIns="0" tIns="0" rIns="0" bIns="0" rtlCol="0" anchor="t"/>
          <a:lstStyle/>
          <a:p>
            <a:pPr indent="0" marL="0">
              <a:buNone/>
            </a:pPr>
            <a:r>
              <a:rPr lang="en-US" sz="1200" b="1" spc="200" kern="0" dirty="0">
                <a:solidFill>
                  <a:schemeClr val="accent3"/>
                </a:solidFill>
              </a:rPr>
              <a:t>NORMATIVA</a:t>
            </a:r>
            <a:endParaRPr lang="en-US" sz="1200" dirty="0"/>
          </a:p>
        </p:txBody>
      </p:sp>
      <p:sp>
        <p:nvSpPr>
          <p:cNvPr id="7" name="Texto normativa"/>
          <p:cNvSpPr txBox="1"/>
          <p:nvPr/>
        </p:nvSpPr>
        <p:spPr>
          <a:xfrm>
            <a:off x="777240" y="3200400"/>
            <a:ext cx="2834640" cy="868680"/>
          </a:xfrm>
          <a:prstGeom prst="rect">
            <a:avLst/>
          </a:prstGeom>
          <a:noFill/>
          <a:ln/>
        </p:spPr>
        <p:txBody>
          <a:bodyPr wrap="square" lIns="0" tIns="0" rIns="0" bIns="0" rtlCol="0" anchor="t"/>
          <a:lstStyle/>
          <a:p>
            <a:pPr indent="0" marL="0">
              <a:buNone/>
            </a:pPr>
            <a:r>
              <a:rPr lang="en-US" sz="1400" dirty="0">
                <a:solidFill>
                  <a:schemeClr val="tx1"/>
                </a:solidFill>
              </a:rPr>
              <a:t>Ley 594 de 2000 e ISO 15489-1: los registros de archivo deben ser íntegros e inmutables.</a:t>
            </a:r>
            <a:endParaRPr lang="en-US" sz="1400" dirty="0"/>
          </a:p>
        </p:txBody>
      </p:sp>
      <p:sp>
        <p:nvSpPr>
          <p:cNvPr id="8" name="Tarjeta mapeo 1"/>
          <p:cNvSpPr/>
          <p:nvPr/>
        </p:nvSpPr>
        <p:spPr>
          <a:xfrm>
            <a:off x="4114800" y="1371600"/>
            <a:ext cx="4480560" cy="868680"/>
          </a:xfrm>
          <a:prstGeom prst="roundRect">
            <a:avLst>
              <a:gd name="adj" fmla="val 12632"/>
            </a:avLst>
          </a:prstGeom>
          <a:solidFill>
            <a:schemeClr val="bg2"/>
          </a:solidFill>
          <a:ln/>
        </p:spPr>
      </p:sp>
      <p:sp>
        <p:nvSpPr>
          <p:cNvPr id="9" name="Marca mapeo 1"/>
          <p:cNvSpPr/>
          <p:nvPr/>
        </p:nvSpPr>
        <p:spPr>
          <a:xfrm>
            <a:off x="4297680" y="1645920"/>
            <a:ext cx="320040" cy="320040"/>
          </a:xfrm>
          <a:prstGeom prst="ellipse">
            <a:avLst/>
          </a:prstGeom>
          <a:solidFill>
            <a:schemeClr val="accent4"/>
          </a:solidFill>
          <a:ln/>
        </p:spPr>
      </p:sp>
      <p:sp>
        <p:nvSpPr>
          <p:cNvPr id="10" name="Texto mapeo 1"/>
          <p:cNvSpPr txBox="1"/>
          <p:nvPr/>
        </p:nvSpPr>
        <p:spPr>
          <a:xfrm>
            <a:off x="4754880" y="1371600"/>
            <a:ext cx="3749040" cy="868680"/>
          </a:xfrm>
          <a:prstGeom prst="rect">
            <a:avLst/>
          </a:prstGeom>
          <a:noFill/>
          <a:ln/>
        </p:spPr>
        <p:txBody>
          <a:bodyPr wrap="square" lIns="0" tIns="0" rIns="0" bIns="0" rtlCol="0" anchor="ctr"/>
          <a:lstStyle/>
          <a:p>
            <a:pPr indent="0" marL="0">
              <a:buNone/>
            </a:pPr>
            <a:r>
              <a:rPr lang="en-US" sz="1400" b="1" dirty="0">
                <a:solidFill>
                  <a:schemeClr val="tx2"/>
                </a:solidFill>
              </a:rPr>
              <a:t>Originator  →  DocumentoElectronico</a:t>
            </a:r>
            <a:endParaRPr lang="en-US" sz="1400" dirty="0"/>
          </a:p>
          <a:p>
            <a:pPr indent="0" marL="0">
              <a:buNone/>
            </a:pPr>
            <a:r>
              <a:rPr lang="en-US" sz="1400" dirty="0">
                <a:solidFill>
                  <a:schemeClr val="tx1"/>
                </a:solidFill>
              </a:rPr>
              <a:t>Gestiona metadatos y ciclo de vida; en checkIn() crea su snapshot.</a:t>
            </a:r>
            <a:endParaRPr lang="en-US" sz="1400" dirty="0"/>
          </a:p>
        </p:txBody>
      </p:sp>
      <p:sp>
        <p:nvSpPr>
          <p:cNvPr id="11" name="Tarjeta mapeo 2"/>
          <p:cNvSpPr/>
          <p:nvPr/>
        </p:nvSpPr>
        <p:spPr>
          <a:xfrm>
            <a:off x="4114800" y="2331720"/>
            <a:ext cx="4480560" cy="868680"/>
          </a:xfrm>
          <a:prstGeom prst="roundRect">
            <a:avLst>
              <a:gd name="adj" fmla="val 12632"/>
            </a:avLst>
          </a:prstGeom>
          <a:solidFill>
            <a:schemeClr val="bg2"/>
          </a:solidFill>
          <a:ln/>
        </p:spPr>
      </p:sp>
      <p:sp>
        <p:nvSpPr>
          <p:cNvPr id="12" name="Marca mapeo 2"/>
          <p:cNvSpPr/>
          <p:nvPr/>
        </p:nvSpPr>
        <p:spPr>
          <a:xfrm>
            <a:off x="4297680" y="2606040"/>
            <a:ext cx="320040" cy="320040"/>
          </a:xfrm>
          <a:prstGeom prst="ellipse">
            <a:avLst/>
          </a:prstGeom>
          <a:solidFill>
            <a:schemeClr val="accent1"/>
          </a:solidFill>
          <a:ln/>
        </p:spPr>
      </p:sp>
      <p:sp>
        <p:nvSpPr>
          <p:cNvPr id="13" name="Texto mapeo 2"/>
          <p:cNvSpPr txBox="1"/>
          <p:nvPr/>
        </p:nvSpPr>
        <p:spPr>
          <a:xfrm>
            <a:off x="4754880" y="2331720"/>
            <a:ext cx="3749040" cy="868680"/>
          </a:xfrm>
          <a:prstGeom prst="rect">
            <a:avLst/>
          </a:prstGeom>
          <a:noFill/>
          <a:ln/>
        </p:spPr>
        <p:txBody>
          <a:bodyPr wrap="square" lIns="0" tIns="0" rIns="0" bIns="0" rtlCol="0" anchor="ctr"/>
          <a:lstStyle/>
          <a:p>
            <a:pPr indent="0" marL="0">
              <a:buNone/>
            </a:pPr>
            <a:r>
              <a:rPr lang="en-US" sz="1400" b="1" dirty="0">
                <a:solidFill>
                  <a:schemeClr val="tx2"/>
                </a:solidFill>
              </a:rPr>
              <a:t>Memento  →  DocumentoVersionMemento</a:t>
            </a:r>
            <a:endParaRPr lang="en-US" sz="1400" dirty="0"/>
          </a:p>
          <a:p>
            <a:pPr indent="0" marL="0">
              <a:buNone/>
            </a:pPr>
            <a:r>
              <a:rPr lang="en-US" sz="1400" dirty="0">
                <a:solidFill>
                  <a:schemeClr val="tx1"/>
                </a:solidFill>
              </a:rPr>
              <a:t>Snapshot con versión, metadatos y hash SHA-256; del binario solo guarda la URI.</a:t>
            </a:r>
            <a:endParaRPr lang="en-US" sz="1400" dirty="0"/>
          </a:p>
        </p:txBody>
      </p:sp>
      <p:sp>
        <p:nvSpPr>
          <p:cNvPr id="14" name="Tarjeta mapeo 3"/>
          <p:cNvSpPr/>
          <p:nvPr/>
        </p:nvSpPr>
        <p:spPr>
          <a:xfrm>
            <a:off x="4114800" y="3291840"/>
            <a:ext cx="4480560" cy="868680"/>
          </a:xfrm>
          <a:prstGeom prst="roundRect">
            <a:avLst>
              <a:gd name="adj" fmla="val 12632"/>
            </a:avLst>
          </a:prstGeom>
          <a:solidFill>
            <a:schemeClr val="bg2"/>
          </a:solidFill>
          <a:ln/>
        </p:spPr>
      </p:sp>
      <p:sp>
        <p:nvSpPr>
          <p:cNvPr id="15" name="Marca mapeo 3"/>
          <p:cNvSpPr/>
          <p:nvPr/>
        </p:nvSpPr>
        <p:spPr>
          <a:xfrm>
            <a:off x="4297680" y="3566160"/>
            <a:ext cx="320040" cy="320040"/>
          </a:xfrm>
          <a:prstGeom prst="ellipse">
            <a:avLst/>
          </a:prstGeom>
          <a:solidFill>
            <a:schemeClr val="accent2"/>
          </a:solidFill>
          <a:ln/>
        </p:spPr>
      </p:sp>
      <p:sp>
        <p:nvSpPr>
          <p:cNvPr id="16" name="Texto mapeo 3"/>
          <p:cNvSpPr txBox="1"/>
          <p:nvPr/>
        </p:nvSpPr>
        <p:spPr>
          <a:xfrm>
            <a:off x="4754880" y="3291840"/>
            <a:ext cx="3749040" cy="868680"/>
          </a:xfrm>
          <a:prstGeom prst="rect">
            <a:avLst/>
          </a:prstGeom>
          <a:noFill/>
          <a:ln/>
        </p:spPr>
        <p:txBody>
          <a:bodyPr wrap="square" lIns="0" tIns="0" rIns="0" bIns="0" rtlCol="0" anchor="ctr"/>
          <a:lstStyle/>
          <a:p>
            <a:pPr indent="0" marL="0">
              <a:buNone/>
            </a:pPr>
            <a:r>
              <a:rPr lang="en-US" sz="1400" b="1" dirty="0">
                <a:solidFill>
                  <a:schemeClr val="tx2"/>
                </a:solidFill>
              </a:rPr>
              <a:t>Caretaker  →  HistorialVersionesService</a:t>
            </a:r>
            <a:endParaRPr lang="en-US" sz="1400" dirty="0"/>
          </a:p>
          <a:p>
            <a:pPr indent="0" marL="0">
              <a:buNone/>
            </a:pPr>
            <a:r>
              <a:rPr lang="en-US" sz="1400" dirty="0">
                <a:solidFill>
                  <a:schemeClr val="tx1"/>
                </a:solidFill>
              </a:rPr>
              <a:t>Custodia las versiones de cada documento; al rechazarlo (RF-GDA-13) restaura la previa.</a:t>
            </a:r>
            <a:endParaRPr lang="en-US" sz="1400" dirty="0"/>
          </a:p>
        </p:txBody>
      </p:sp>
      <p:sp>
        <p:nvSpPr>
          <p:cNvPr id="17" name="Banner"/>
          <p:cNvSpPr/>
          <p:nvPr/>
        </p:nvSpPr>
        <p:spPr>
          <a:xfrm>
            <a:off x="548640" y="4251960"/>
            <a:ext cx="8046720" cy="365760"/>
          </a:xfrm>
          <a:prstGeom prst="roundRect">
            <a:avLst>
              <a:gd name="adj" fmla="val 30000"/>
            </a:avLst>
          </a:prstGeom>
          <a:solidFill>
            <a:schemeClr val="tx2"/>
          </a:solidFill>
          <a:ln/>
        </p:spPr>
      </p:sp>
      <p:sp>
        <p:nvSpPr>
          <p:cNvPr id="18" name="Texto banner"/>
          <p:cNvSpPr txBox="1"/>
          <p:nvPr/>
        </p:nvSpPr>
        <p:spPr>
          <a:xfrm>
            <a:off x="777240" y="4251960"/>
            <a:ext cx="7589520" cy="365760"/>
          </a:xfrm>
          <a:prstGeom prst="rect">
            <a:avLst/>
          </a:prstGeom>
          <a:noFill/>
          <a:ln/>
        </p:spPr>
        <p:txBody>
          <a:bodyPr wrap="square" lIns="0" tIns="0" rIns="0" bIns="0" rtlCol="0" anchor="ctr"/>
          <a:lstStyle/>
          <a:p>
            <a:pPr indent="0" marL="0">
              <a:buNone/>
            </a:pPr>
            <a:r>
              <a:rPr lang="en-US" sz="1400" b="1" dirty="0">
                <a:solidFill>
                  <a:schemeClr val="bg1"/>
                </a:solidFill>
              </a:rPr>
              <a:t>Cada snapshot guarda la URI, no el binario: pocos KB aun con decenas de TB.</a:t>
            </a:r>
            <a:endParaRPr lang="en-US" sz="1400" dirty="0"/>
          </a:p>
        </p:txBody>
      </p:sp>
      <p:sp>
        <p:nvSpPr>
          <p:cNvPr id="19" name="Fuente"/>
          <p:cNvSpPr txBox="1"/>
          <p:nvPr/>
        </p:nvSpPr>
        <p:spPr>
          <a:xfrm>
            <a:off x="548640" y="4663440"/>
            <a:ext cx="8046720" cy="228600"/>
          </a:xfrm>
          <a:prstGeom prst="rect">
            <a:avLst/>
          </a:prstGeom>
          <a:noFill/>
          <a:ln/>
        </p:spPr>
        <p:txBody>
          <a:bodyPr wrap="square" lIns="0" tIns="0" rIns="0" bIns="0" rtlCol="0" anchor="t"/>
          <a:lstStyle/>
          <a:p>
            <a:pPr indent="0" marL="0">
              <a:buNone/>
            </a:pPr>
            <a:r>
              <a:rPr lang="en-US" sz="1000" dirty="0">
                <a:solidFill>
                  <a:schemeClr val="accent6"/>
                </a:solidFill>
              </a:rPr>
              <a:t>Fuente: documento de requisitos del módulo GDA (proyecto del curso) y análisis de elaboración propia.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Ejemplo: módulo GDA</a:t>
            </a:r>
            <a:endParaRPr lang="en-US" sz="3600" dirty="0"/>
          </a:p>
        </p:txBody>
      </p:sp>
      <p:sp>
        <p:nvSpPr>
          <p:cNvPr id="3" name="DocumentoElectronico nombre"/>
          <p:cNvSpPr/>
          <p:nvPr/>
        </p:nvSpPr>
        <p:spPr>
          <a:xfrm>
            <a:off x="548640" y="1325880"/>
            <a:ext cx="2377440" cy="502920"/>
          </a:xfrm>
          <a:prstGeom prst="rect">
            <a:avLst/>
          </a:prstGeom>
          <a:solidFill>
            <a:schemeClr val="accent4"/>
          </a:solidFill>
          <a:ln w="15875">
            <a:solidFill>
              <a:schemeClr val="tx2"/>
            </a:solidFill>
            <a:prstDash val="solid"/>
          </a:ln>
        </p:spPr>
      </p:sp>
      <p:sp>
        <p:nvSpPr>
          <p:cNvPr id="4" name="DocumentoElectronico texto"/>
          <p:cNvSpPr txBox="1"/>
          <p:nvPr/>
        </p:nvSpPr>
        <p:spPr>
          <a:xfrm>
            <a:off x="548640" y="1325880"/>
            <a:ext cx="2377440" cy="502920"/>
          </a:xfrm>
          <a:prstGeom prst="rect">
            <a:avLst/>
          </a:prstGeom>
          <a:noFill/>
          <a:ln/>
        </p:spPr>
        <p:txBody>
          <a:bodyPr wrap="square" lIns="0" tIns="0" rIns="0" bIns="0" rtlCol="0" anchor="ctr"/>
          <a:lstStyle/>
          <a:p>
            <a:pPr algn="ctr" indent="0" marL="0">
              <a:buNone/>
            </a:pPr>
            <a:r>
              <a:rPr lang="en-US" sz="1100" i="1" dirty="0">
                <a:solidFill>
                  <a:schemeClr val="bg1"/>
                </a:solidFill>
              </a:rPr>
              <a:t>«originator»</a:t>
            </a:r>
            <a:endParaRPr lang="en-US" sz="1100" dirty="0"/>
          </a:p>
          <a:p>
            <a:pPr algn="ctr" indent="0" marL="0">
              <a:buNone/>
            </a:pPr>
            <a:r>
              <a:rPr lang="en-US" sz="1400" b="1" dirty="0">
                <a:solidFill>
                  <a:schemeClr val="bg1"/>
                </a:solidFill>
              </a:rPr>
              <a:t>DocumentoElectronico</a:t>
            </a:r>
            <a:endParaRPr lang="en-US" sz="1100" dirty="0"/>
          </a:p>
        </p:txBody>
      </p:sp>
      <p:sp>
        <p:nvSpPr>
          <p:cNvPr id="5" name="DocumentoElectronico atributos"/>
          <p:cNvSpPr/>
          <p:nvPr/>
        </p:nvSpPr>
        <p:spPr>
          <a:xfrm>
            <a:off x="548640" y="1828800"/>
            <a:ext cx="2377440" cy="1280160"/>
          </a:xfrm>
          <a:prstGeom prst="rect">
            <a:avLst/>
          </a:prstGeom>
          <a:solidFill>
            <a:schemeClr val="bg1"/>
          </a:solidFill>
          <a:ln w="15875">
            <a:solidFill>
              <a:schemeClr val="tx2"/>
            </a:solidFill>
            <a:prstDash val="solid"/>
          </a:ln>
        </p:spPr>
      </p:sp>
      <p:sp>
        <p:nvSpPr>
          <p:cNvPr id="6" name="DocumentoElectronico lista atributos"/>
          <p:cNvSpPr txBox="1"/>
          <p:nvPr/>
        </p:nvSpPr>
        <p:spPr>
          <a:xfrm>
            <a:off x="640080" y="1874520"/>
            <a:ext cx="2194560" cy="1188720"/>
          </a:xfrm>
          <a:prstGeom prst="rect">
            <a:avLst/>
          </a:prstGeom>
          <a:noFill/>
          <a:ln/>
        </p:spPr>
        <p:txBody>
          <a:bodyPr wrap="square" lIns="0" tIns="0" rIns="0" bIns="0" rtlCol="0" anchor="t"/>
          <a:lstStyle/>
          <a:p>
            <a:pPr indent="0" marL="0">
              <a:buNone/>
            </a:pPr>
            <a:r>
              <a:rPr lang="en-US" sz="1200" dirty="0">
                <a:solidFill>
                  <a:schemeClr val="tx1"/>
                </a:solidFill>
              </a:rPr>
              <a:t>-id</a:t>
            </a:r>
            <a:endParaRPr lang="en-US" sz="1200" dirty="0"/>
          </a:p>
          <a:p>
            <a:pPr indent="0" marL="0">
              <a:buNone/>
            </a:pPr>
            <a:r>
              <a:rPr lang="en-US" sz="1200" dirty="0">
                <a:solidFill>
                  <a:schemeClr val="tx1"/>
                </a:solidFill>
              </a:rPr>
              <a:t>-versionActual</a:t>
            </a:r>
            <a:endParaRPr lang="en-US" sz="1200" dirty="0"/>
          </a:p>
          <a:p>
            <a:pPr indent="0" marL="0">
              <a:buNone/>
            </a:pPr>
            <a:r>
              <a:rPr lang="en-US" sz="1200" dirty="0">
                <a:solidFill>
                  <a:schemeClr val="tx1"/>
                </a:solidFill>
              </a:rPr>
              <a:t>-hashSHA256</a:t>
            </a:r>
            <a:endParaRPr lang="en-US" sz="1200" dirty="0"/>
          </a:p>
          <a:p>
            <a:pPr indent="0" marL="0">
              <a:buNone/>
            </a:pPr>
            <a:r>
              <a:rPr lang="en-US" sz="1200" dirty="0">
                <a:solidFill>
                  <a:schemeClr val="tx1"/>
                </a:solidFill>
              </a:rPr>
              <a:t>-storageBinaryUri</a:t>
            </a:r>
            <a:endParaRPr lang="en-US" sz="1200" dirty="0"/>
          </a:p>
          <a:p>
            <a:pPr indent="0" marL="0">
              <a:buNone/>
            </a:pPr>
            <a:r>
              <a:rPr lang="en-US" sz="1200" dirty="0">
                <a:solidFill>
                  <a:schemeClr val="tx1"/>
                </a:solidFill>
              </a:rPr>
              <a:t>-metadatos</a:t>
            </a:r>
            <a:endParaRPr lang="en-US" sz="1200" dirty="0"/>
          </a:p>
        </p:txBody>
      </p:sp>
      <p:sp>
        <p:nvSpPr>
          <p:cNvPr id="7" name="DocumentoElectronico operaciones"/>
          <p:cNvSpPr/>
          <p:nvPr/>
        </p:nvSpPr>
        <p:spPr>
          <a:xfrm>
            <a:off x="548640" y="3108960"/>
            <a:ext cx="2377440" cy="804672"/>
          </a:xfrm>
          <a:prstGeom prst="rect">
            <a:avLst/>
          </a:prstGeom>
          <a:solidFill>
            <a:schemeClr val="bg1"/>
          </a:solidFill>
          <a:ln w="15875">
            <a:solidFill>
              <a:schemeClr val="tx2"/>
            </a:solidFill>
            <a:prstDash val="solid"/>
          </a:ln>
        </p:spPr>
      </p:sp>
      <p:sp>
        <p:nvSpPr>
          <p:cNvPr id="8" name="DocumentoElectronico lista operaciones"/>
          <p:cNvSpPr txBox="1"/>
          <p:nvPr/>
        </p:nvSpPr>
        <p:spPr>
          <a:xfrm>
            <a:off x="640080" y="3154680"/>
            <a:ext cx="2194560" cy="713232"/>
          </a:xfrm>
          <a:prstGeom prst="rect">
            <a:avLst/>
          </a:prstGeom>
          <a:noFill/>
          <a:ln/>
        </p:spPr>
        <p:txBody>
          <a:bodyPr wrap="square" lIns="0" tIns="0" rIns="0" bIns="0" rtlCol="0" anchor="t"/>
          <a:lstStyle/>
          <a:p>
            <a:pPr indent="0" marL="0">
              <a:buNone/>
            </a:pPr>
            <a:r>
              <a:rPr lang="en-US" sz="1200" dirty="0">
                <a:solidFill>
                  <a:schemeClr val="tx1"/>
                </a:solidFill>
              </a:rPr>
              <a:t>+checkIn(datos)</a:t>
            </a:r>
            <a:endParaRPr lang="en-US" sz="1200" dirty="0"/>
          </a:p>
          <a:p>
            <a:pPr indent="0" marL="0">
              <a:buNone/>
            </a:pPr>
            <a:r>
              <a:rPr lang="en-US" sz="1200" dirty="0">
                <a:solidFill>
                  <a:schemeClr val="tx1"/>
                </a:solidFill>
              </a:rPr>
              <a:t>+crearSnapshot()</a:t>
            </a:r>
            <a:endParaRPr lang="en-US" sz="1200" dirty="0"/>
          </a:p>
          <a:p>
            <a:pPr indent="0" marL="0">
              <a:buNone/>
            </a:pPr>
            <a:r>
              <a:rPr lang="en-US" sz="1200" dirty="0">
                <a:solidFill>
                  <a:schemeClr val="tx1"/>
                </a:solidFill>
              </a:rPr>
              <a:t>+restaurar(memento)</a:t>
            </a:r>
            <a:endParaRPr lang="en-US" sz="1200" dirty="0"/>
          </a:p>
        </p:txBody>
      </p:sp>
      <p:sp>
        <p:nvSpPr>
          <p:cNvPr id="9" name="DocumentoVersionMemento nombre"/>
          <p:cNvSpPr/>
          <p:nvPr/>
        </p:nvSpPr>
        <p:spPr>
          <a:xfrm>
            <a:off x="3474720" y="1325880"/>
            <a:ext cx="2286000" cy="502920"/>
          </a:xfrm>
          <a:prstGeom prst="rect">
            <a:avLst/>
          </a:prstGeom>
          <a:solidFill>
            <a:schemeClr val="accent1"/>
          </a:solidFill>
          <a:ln w="15875">
            <a:solidFill>
              <a:schemeClr val="tx2"/>
            </a:solidFill>
            <a:prstDash val="solid"/>
          </a:ln>
        </p:spPr>
      </p:sp>
      <p:sp>
        <p:nvSpPr>
          <p:cNvPr id="10" name="DocumentoVersionMemento texto"/>
          <p:cNvSpPr txBox="1"/>
          <p:nvPr/>
        </p:nvSpPr>
        <p:spPr>
          <a:xfrm>
            <a:off x="3474720" y="1325880"/>
            <a:ext cx="2286000" cy="502920"/>
          </a:xfrm>
          <a:prstGeom prst="rect">
            <a:avLst/>
          </a:prstGeom>
          <a:noFill/>
          <a:ln/>
        </p:spPr>
        <p:txBody>
          <a:bodyPr wrap="square" lIns="0" tIns="0" rIns="0" bIns="0" rtlCol="0" anchor="ctr"/>
          <a:lstStyle/>
          <a:p>
            <a:pPr algn="ctr" indent="0" marL="0">
              <a:buNone/>
            </a:pPr>
            <a:r>
              <a:rPr lang="en-US" sz="1100" i="1" dirty="0">
                <a:solidFill>
                  <a:schemeClr val="bg1"/>
                </a:solidFill>
              </a:rPr>
              <a:t>«memento»</a:t>
            </a:r>
            <a:endParaRPr lang="en-US" sz="1100" dirty="0"/>
          </a:p>
          <a:p>
            <a:pPr algn="ctr" indent="0" marL="0">
              <a:buNone/>
            </a:pPr>
            <a:r>
              <a:rPr lang="en-US" sz="1400" b="1" dirty="0">
                <a:solidFill>
                  <a:schemeClr val="bg1"/>
                </a:solidFill>
              </a:rPr>
              <a:t>DocumentoVersionMemento</a:t>
            </a:r>
            <a:endParaRPr lang="en-US" sz="1100" dirty="0"/>
          </a:p>
        </p:txBody>
      </p:sp>
      <p:sp>
        <p:nvSpPr>
          <p:cNvPr id="11" name="DocumentoVersionMemento atributos"/>
          <p:cNvSpPr/>
          <p:nvPr/>
        </p:nvSpPr>
        <p:spPr>
          <a:xfrm>
            <a:off x="3474720" y="1828800"/>
            <a:ext cx="2286000" cy="1042416"/>
          </a:xfrm>
          <a:prstGeom prst="rect">
            <a:avLst/>
          </a:prstGeom>
          <a:solidFill>
            <a:schemeClr val="bg1"/>
          </a:solidFill>
          <a:ln w="15875">
            <a:solidFill>
              <a:schemeClr val="tx2"/>
            </a:solidFill>
            <a:prstDash val="solid"/>
          </a:ln>
        </p:spPr>
      </p:sp>
      <p:sp>
        <p:nvSpPr>
          <p:cNvPr id="12" name="DocumentoVersionMemento lista atributos"/>
          <p:cNvSpPr txBox="1"/>
          <p:nvPr/>
        </p:nvSpPr>
        <p:spPr>
          <a:xfrm>
            <a:off x="3566160" y="1874520"/>
            <a:ext cx="2103120" cy="950976"/>
          </a:xfrm>
          <a:prstGeom prst="rect">
            <a:avLst/>
          </a:prstGeom>
          <a:noFill/>
          <a:ln/>
        </p:spPr>
        <p:txBody>
          <a:bodyPr wrap="square" lIns="0" tIns="0" rIns="0" bIns="0" rtlCol="0" anchor="t"/>
          <a:lstStyle/>
          <a:p>
            <a:pPr indent="0" marL="0">
              <a:buNone/>
            </a:pPr>
            <a:r>
              <a:rPr lang="en-US" sz="1200" dirty="0">
                <a:solidFill>
                  <a:schemeClr val="tx1"/>
                </a:solidFill>
              </a:rPr>
              <a:t>-version</a:t>
            </a:r>
            <a:endParaRPr lang="en-US" sz="1200" dirty="0"/>
          </a:p>
          <a:p>
            <a:pPr indent="0" marL="0">
              <a:buNone/>
            </a:pPr>
            <a:r>
              <a:rPr lang="en-US" sz="1200" dirty="0">
                <a:solidFill>
                  <a:schemeClr val="tx1"/>
                </a:solidFill>
              </a:rPr>
              <a:t>-metadatos</a:t>
            </a:r>
            <a:endParaRPr lang="en-US" sz="1200" dirty="0"/>
          </a:p>
          <a:p>
            <a:pPr indent="0" marL="0">
              <a:buNone/>
            </a:pPr>
            <a:r>
              <a:rPr lang="en-US" sz="1200" dirty="0">
                <a:solidFill>
                  <a:schemeClr val="tx1"/>
                </a:solidFill>
              </a:rPr>
              <a:t>-hashSHA256</a:t>
            </a:r>
            <a:endParaRPr lang="en-US" sz="1200" dirty="0"/>
          </a:p>
          <a:p>
            <a:pPr indent="0" marL="0">
              <a:buNone/>
            </a:pPr>
            <a:r>
              <a:rPr lang="en-US" sz="1200" dirty="0">
                <a:solidFill>
                  <a:schemeClr val="tx1"/>
                </a:solidFill>
              </a:rPr>
              <a:t>-storageBinaryUri</a:t>
            </a:r>
            <a:endParaRPr lang="en-US" sz="1200" dirty="0"/>
          </a:p>
        </p:txBody>
      </p:sp>
      <p:sp>
        <p:nvSpPr>
          <p:cNvPr id="13" name="DocumentoVersionMemento operaciones"/>
          <p:cNvSpPr/>
          <p:nvPr/>
        </p:nvSpPr>
        <p:spPr>
          <a:xfrm>
            <a:off x="3474720" y="2871216"/>
            <a:ext cx="2286000" cy="566928"/>
          </a:xfrm>
          <a:prstGeom prst="rect">
            <a:avLst/>
          </a:prstGeom>
          <a:solidFill>
            <a:schemeClr val="bg1"/>
          </a:solidFill>
          <a:ln w="15875">
            <a:solidFill>
              <a:schemeClr val="tx2"/>
            </a:solidFill>
            <a:prstDash val="solid"/>
          </a:ln>
        </p:spPr>
      </p:sp>
      <p:sp>
        <p:nvSpPr>
          <p:cNvPr id="14" name="DocumentoVersionMemento lista operaciones"/>
          <p:cNvSpPr txBox="1"/>
          <p:nvPr/>
        </p:nvSpPr>
        <p:spPr>
          <a:xfrm>
            <a:off x="3566160" y="2916936"/>
            <a:ext cx="2103120" cy="475488"/>
          </a:xfrm>
          <a:prstGeom prst="rect">
            <a:avLst/>
          </a:prstGeom>
          <a:noFill/>
          <a:ln/>
        </p:spPr>
        <p:txBody>
          <a:bodyPr wrap="square" lIns="0" tIns="0" rIns="0" bIns="0" rtlCol="0" anchor="t"/>
          <a:lstStyle/>
          <a:p>
            <a:pPr indent="0" marL="0">
              <a:buNone/>
            </a:pPr>
            <a:r>
              <a:rPr lang="en-US" sz="1200" dirty="0">
                <a:solidFill>
                  <a:schemeClr val="tx1"/>
                </a:solidFill>
              </a:rPr>
              <a:t>+getVersionMetadata()</a:t>
            </a:r>
            <a:endParaRPr lang="en-US" sz="1200" dirty="0"/>
          </a:p>
          <a:p>
            <a:pPr indent="0" marL="0">
              <a:buNone/>
            </a:pPr>
            <a:r>
              <a:rPr lang="en-US" sz="1200" dirty="0">
                <a:solidFill>
                  <a:schemeClr val="tx1"/>
                </a:solidFill>
              </a:rPr>
              <a:t>~getEstadoInterno()</a:t>
            </a:r>
            <a:endParaRPr lang="en-US" sz="1200" dirty="0"/>
          </a:p>
        </p:txBody>
      </p:sp>
      <p:sp>
        <p:nvSpPr>
          <p:cNvPr id="15" name="HistorialVersionesService nombre"/>
          <p:cNvSpPr/>
          <p:nvPr/>
        </p:nvSpPr>
        <p:spPr>
          <a:xfrm>
            <a:off x="6400800" y="1325880"/>
            <a:ext cx="2194560" cy="502920"/>
          </a:xfrm>
          <a:prstGeom prst="rect">
            <a:avLst/>
          </a:prstGeom>
          <a:solidFill>
            <a:schemeClr val="accent2"/>
          </a:solidFill>
          <a:ln w="15875">
            <a:solidFill>
              <a:schemeClr val="tx2"/>
            </a:solidFill>
            <a:prstDash val="solid"/>
          </a:ln>
        </p:spPr>
      </p:sp>
      <p:sp>
        <p:nvSpPr>
          <p:cNvPr id="16" name="HistorialVersionesService texto"/>
          <p:cNvSpPr txBox="1"/>
          <p:nvPr/>
        </p:nvSpPr>
        <p:spPr>
          <a:xfrm>
            <a:off x="6400800" y="1325880"/>
            <a:ext cx="2194560" cy="502920"/>
          </a:xfrm>
          <a:prstGeom prst="rect">
            <a:avLst/>
          </a:prstGeom>
          <a:noFill/>
          <a:ln/>
        </p:spPr>
        <p:txBody>
          <a:bodyPr wrap="square" lIns="0" tIns="0" rIns="0" bIns="0" rtlCol="0" anchor="ctr"/>
          <a:lstStyle/>
          <a:p>
            <a:pPr algn="ctr" indent="0" marL="0">
              <a:buNone/>
            </a:pPr>
            <a:r>
              <a:rPr lang="en-US" sz="1100" i="1" dirty="0">
                <a:solidFill>
                  <a:schemeClr val="tx2"/>
                </a:solidFill>
              </a:rPr>
              <a:t>«caretaker»</a:t>
            </a:r>
            <a:endParaRPr lang="en-US" sz="1100" dirty="0"/>
          </a:p>
          <a:p>
            <a:pPr algn="ctr" indent="0" marL="0">
              <a:buNone/>
            </a:pPr>
            <a:r>
              <a:rPr lang="en-US" sz="1400" b="1" dirty="0">
                <a:solidFill>
                  <a:schemeClr val="tx2"/>
                </a:solidFill>
              </a:rPr>
              <a:t>HistorialVersionesService</a:t>
            </a:r>
            <a:endParaRPr lang="en-US" sz="1100" dirty="0"/>
          </a:p>
        </p:txBody>
      </p:sp>
      <p:sp>
        <p:nvSpPr>
          <p:cNvPr id="17" name="HistorialVersionesService atributos"/>
          <p:cNvSpPr/>
          <p:nvPr/>
        </p:nvSpPr>
        <p:spPr>
          <a:xfrm>
            <a:off x="6400800" y="1828800"/>
            <a:ext cx="2194560" cy="329184"/>
          </a:xfrm>
          <a:prstGeom prst="rect">
            <a:avLst/>
          </a:prstGeom>
          <a:solidFill>
            <a:schemeClr val="bg1"/>
          </a:solidFill>
          <a:ln w="15875">
            <a:solidFill>
              <a:schemeClr val="tx2"/>
            </a:solidFill>
            <a:prstDash val="solid"/>
          </a:ln>
        </p:spPr>
      </p:sp>
      <p:sp>
        <p:nvSpPr>
          <p:cNvPr id="18" name="HistorialVersionesService lista atributos"/>
          <p:cNvSpPr txBox="1"/>
          <p:nvPr/>
        </p:nvSpPr>
        <p:spPr>
          <a:xfrm>
            <a:off x="6492240" y="1874520"/>
            <a:ext cx="2011680" cy="237744"/>
          </a:xfrm>
          <a:prstGeom prst="rect">
            <a:avLst/>
          </a:prstGeom>
          <a:noFill/>
          <a:ln/>
        </p:spPr>
        <p:txBody>
          <a:bodyPr wrap="square" lIns="0" tIns="0" rIns="0" bIns="0" rtlCol="0" anchor="t"/>
          <a:lstStyle/>
          <a:p>
            <a:pPr indent="0" marL="0">
              <a:buNone/>
            </a:pPr>
            <a:r>
              <a:rPr lang="en-US" sz="1200" dirty="0">
                <a:solidFill>
                  <a:schemeClr val="tx1"/>
                </a:solidFill>
              </a:rPr>
              <a:t>-historial</a:t>
            </a:r>
            <a:endParaRPr lang="en-US" sz="1200" dirty="0"/>
          </a:p>
        </p:txBody>
      </p:sp>
      <p:sp>
        <p:nvSpPr>
          <p:cNvPr id="19" name="HistorialVersionesService operaciones"/>
          <p:cNvSpPr/>
          <p:nvPr/>
        </p:nvSpPr>
        <p:spPr>
          <a:xfrm>
            <a:off x="6400800" y="2157984"/>
            <a:ext cx="2194560" cy="329184"/>
          </a:xfrm>
          <a:prstGeom prst="rect">
            <a:avLst/>
          </a:prstGeom>
          <a:solidFill>
            <a:schemeClr val="bg1"/>
          </a:solidFill>
          <a:ln w="15875">
            <a:solidFill>
              <a:schemeClr val="tx2"/>
            </a:solidFill>
            <a:prstDash val="solid"/>
          </a:ln>
        </p:spPr>
      </p:sp>
      <p:sp>
        <p:nvSpPr>
          <p:cNvPr id="20" name="HistorialVersionesService lista operaciones"/>
          <p:cNvSpPr txBox="1"/>
          <p:nvPr/>
        </p:nvSpPr>
        <p:spPr>
          <a:xfrm>
            <a:off x="6492240" y="2203704"/>
            <a:ext cx="2011680" cy="237744"/>
          </a:xfrm>
          <a:prstGeom prst="rect">
            <a:avLst/>
          </a:prstGeom>
          <a:noFill/>
          <a:ln/>
        </p:spPr>
        <p:txBody>
          <a:bodyPr wrap="square" lIns="0" tIns="0" rIns="0" bIns="0" rtlCol="0" anchor="t"/>
          <a:lstStyle/>
          <a:p>
            <a:pPr indent="0" marL="0">
              <a:buNone/>
            </a:pPr>
            <a:r>
              <a:rPr lang="en-US" sz="1200" dirty="0">
                <a:solidFill>
                  <a:schemeClr val="tx1"/>
                </a:solidFill>
              </a:rPr>
              <a:t>+rollback()</a:t>
            </a:r>
            <a:endParaRPr lang="en-US" sz="1200" dirty="0"/>
          </a:p>
        </p:txBody>
      </p:sp>
      <p:sp>
        <p:nvSpPr>
          <p:cNvPr id="21" name="Flecha"/>
          <p:cNvSpPr/>
          <p:nvPr/>
        </p:nvSpPr>
        <p:spPr>
          <a:xfrm>
            <a:off x="2926080" y="1577340"/>
            <a:ext cx="548640" cy="0"/>
          </a:xfrm>
          <a:prstGeom prst="line">
            <a:avLst/>
          </a:prstGeom>
          <a:noFill/>
          <a:ln w="19050">
            <a:solidFill>
              <a:schemeClr val="tx2"/>
            </a:solidFill>
            <a:prstDash val="dash"/>
            <a:tailEnd type="triangle"/>
          </a:ln>
        </p:spPr>
      </p:sp>
      <p:sp>
        <p:nvSpPr>
          <p:cNvPr id="22" name="Etiqueta crea"/>
          <p:cNvSpPr txBox="1"/>
          <p:nvPr/>
        </p:nvSpPr>
        <p:spPr>
          <a:xfrm>
            <a:off x="2926080" y="1623060"/>
            <a:ext cx="548640" cy="228600"/>
          </a:xfrm>
          <a:prstGeom prst="rect">
            <a:avLst/>
          </a:prstGeom>
          <a:noFill/>
          <a:ln/>
        </p:spPr>
        <p:txBody>
          <a:bodyPr wrap="square" lIns="0" tIns="0" rIns="0" bIns="0" rtlCol="0" anchor="t"/>
          <a:lstStyle/>
          <a:p>
            <a:pPr algn="ctr" indent="0" marL="0">
              <a:buNone/>
            </a:pPr>
            <a:r>
              <a:rPr lang="en-US" sz="1100" i="1" dirty="0">
                <a:solidFill>
                  <a:schemeClr val="accent6"/>
                </a:solidFill>
              </a:rPr>
              <a:t>crea</a:t>
            </a:r>
            <a:endParaRPr lang="en-US" sz="1100" dirty="0"/>
          </a:p>
        </p:txBody>
      </p:sp>
      <p:sp>
        <p:nvSpPr>
          <p:cNvPr id="23" name="Flecha"/>
          <p:cNvSpPr/>
          <p:nvPr/>
        </p:nvSpPr>
        <p:spPr>
          <a:xfrm flipH="1">
            <a:off x="5760720" y="1577340"/>
            <a:ext cx="640080" cy="0"/>
          </a:xfrm>
          <a:prstGeom prst="line">
            <a:avLst/>
          </a:prstGeom>
          <a:noFill/>
          <a:ln w="19050">
            <a:solidFill>
              <a:schemeClr val="tx2"/>
            </a:solidFill>
            <a:prstDash val="solid"/>
          </a:ln>
        </p:spPr>
      </p:sp>
      <p:sp>
        <p:nvSpPr>
          <p:cNvPr id="24" name="Etiqueta guarda"/>
          <p:cNvSpPr txBox="1"/>
          <p:nvPr/>
        </p:nvSpPr>
        <p:spPr>
          <a:xfrm>
            <a:off x="5760720" y="1623060"/>
            <a:ext cx="640080" cy="228600"/>
          </a:xfrm>
          <a:prstGeom prst="rect">
            <a:avLst/>
          </a:prstGeom>
          <a:noFill/>
          <a:ln/>
        </p:spPr>
        <p:txBody>
          <a:bodyPr wrap="square" lIns="0" tIns="0" rIns="0" bIns="0" rtlCol="0" anchor="t"/>
          <a:lstStyle/>
          <a:p>
            <a:pPr algn="ctr" indent="0" marL="0">
              <a:buNone/>
            </a:pPr>
            <a:r>
              <a:rPr lang="en-US" sz="1100" i="1" dirty="0">
                <a:solidFill>
                  <a:schemeClr val="accent6"/>
                </a:solidFill>
              </a:rPr>
              <a:t>guarda</a:t>
            </a:r>
            <a:endParaRPr lang="en-US" sz="1100" dirty="0"/>
          </a:p>
        </p:txBody>
      </p:sp>
      <p:sp>
        <p:nvSpPr>
          <p:cNvPr id="25" name="Object Storage"/>
          <p:cNvSpPr/>
          <p:nvPr/>
        </p:nvSpPr>
        <p:spPr>
          <a:xfrm>
            <a:off x="3474720" y="4069080"/>
            <a:ext cx="2286000" cy="411480"/>
          </a:xfrm>
          <a:prstGeom prst="rect">
            <a:avLst/>
          </a:prstGeom>
          <a:solidFill>
            <a:schemeClr val="bg2"/>
          </a:solidFill>
          <a:ln w="15875">
            <a:solidFill>
              <a:schemeClr val="accent6"/>
            </a:solidFill>
            <a:prstDash val="dash"/>
          </a:ln>
        </p:spPr>
      </p:sp>
      <p:sp>
        <p:nvSpPr>
          <p:cNvPr id="26" name="Texto Object Storage"/>
          <p:cNvSpPr txBox="1"/>
          <p:nvPr/>
        </p:nvSpPr>
        <p:spPr>
          <a:xfrm>
            <a:off x="3474720" y="4069080"/>
            <a:ext cx="2286000" cy="411480"/>
          </a:xfrm>
          <a:prstGeom prst="rect">
            <a:avLst/>
          </a:prstGeom>
          <a:noFill/>
          <a:ln/>
        </p:spPr>
        <p:txBody>
          <a:bodyPr wrap="square" lIns="0" tIns="0" rIns="0" bIns="0" rtlCol="0" anchor="ctr"/>
          <a:lstStyle/>
          <a:p>
            <a:pPr algn="ctr" indent="0" marL="0">
              <a:buNone/>
            </a:pPr>
            <a:r>
              <a:rPr lang="en-US" sz="1200" b="1" dirty="0">
                <a:solidFill>
                  <a:schemeClr val="tx2"/>
                </a:solidFill>
              </a:rPr>
              <a:t>Object Storage (S3 / MinIO)</a:t>
            </a:r>
            <a:endParaRPr lang="en-US" sz="1200" dirty="0"/>
          </a:p>
        </p:txBody>
      </p:sp>
      <p:sp>
        <p:nvSpPr>
          <p:cNvPr id="27" name="Flecha"/>
          <p:cNvSpPr/>
          <p:nvPr/>
        </p:nvSpPr>
        <p:spPr>
          <a:xfrm>
            <a:off x="4617720" y="3438144"/>
            <a:ext cx="0" cy="630936"/>
          </a:xfrm>
          <a:prstGeom prst="line">
            <a:avLst/>
          </a:prstGeom>
          <a:noFill/>
          <a:ln w="19050">
            <a:solidFill>
              <a:schemeClr val="tx2"/>
            </a:solidFill>
            <a:prstDash val="dash"/>
            <a:tailEnd type="triangle"/>
          </a:ln>
        </p:spPr>
      </p:sp>
      <p:sp>
        <p:nvSpPr>
          <p:cNvPr id="28" name="Etiqueta URI"/>
          <p:cNvSpPr txBox="1"/>
          <p:nvPr/>
        </p:nvSpPr>
        <p:spPr>
          <a:xfrm>
            <a:off x="4709160" y="3657600"/>
            <a:ext cx="1188720" cy="228600"/>
          </a:xfrm>
          <a:prstGeom prst="rect">
            <a:avLst/>
          </a:prstGeom>
          <a:noFill/>
          <a:ln/>
        </p:spPr>
        <p:txBody>
          <a:bodyPr wrap="square" lIns="0" tIns="0" rIns="0" bIns="0" rtlCol="0" anchor="t"/>
          <a:lstStyle/>
          <a:p>
            <a:pPr indent="0" marL="0">
              <a:buNone/>
            </a:pPr>
            <a:r>
              <a:rPr lang="en-US" sz="1100" i="1" dirty="0">
                <a:solidFill>
                  <a:schemeClr val="accent6"/>
                </a:solidFill>
              </a:rPr>
              <a:t>URI del binario</a:t>
            </a:r>
            <a:endParaRPr lang="en-US" sz="1100" dirty="0"/>
          </a:p>
        </p:txBody>
      </p:sp>
      <p:sp>
        <p:nvSpPr>
          <p:cNvPr id="29" name="Tarjeta requisitos"/>
          <p:cNvSpPr/>
          <p:nvPr/>
        </p:nvSpPr>
        <p:spPr>
          <a:xfrm>
            <a:off x="6400800" y="2743200"/>
            <a:ext cx="2194560" cy="1737360"/>
          </a:xfrm>
          <a:prstGeom prst="roundRect">
            <a:avLst>
              <a:gd name="adj" fmla="val 6316"/>
            </a:avLst>
          </a:prstGeom>
          <a:solidFill>
            <a:schemeClr val="accent2">
              <a:alpha val="20000"/>
            </a:schemeClr>
          </a:solidFill>
          <a:ln/>
        </p:spPr>
      </p:sp>
      <p:sp>
        <p:nvSpPr>
          <p:cNvPr id="30" name="Texto requisitos"/>
          <p:cNvSpPr txBox="1"/>
          <p:nvPr/>
        </p:nvSpPr>
        <p:spPr>
          <a:xfrm>
            <a:off x="6583680" y="2834640"/>
            <a:ext cx="1828800" cy="1554480"/>
          </a:xfrm>
          <a:prstGeom prst="rect">
            <a:avLst/>
          </a:prstGeom>
          <a:noFill/>
          <a:ln/>
        </p:spPr>
        <p:txBody>
          <a:bodyPr wrap="square" lIns="0" tIns="0" rIns="0" bIns="0" rtlCol="0" anchor="ctr"/>
          <a:lstStyle/>
          <a:p>
            <a:pPr indent="0" marL="0">
              <a:buNone/>
            </a:pPr>
            <a:r>
              <a:rPr lang="en-US" sz="1400" b="1" dirty="0">
                <a:solidFill>
                  <a:schemeClr val="tx1"/>
                </a:solidFill>
              </a:rPr>
              <a:t>RF-GDA-09</a:t>
            </a:r>
            <a:pPr indent="0" marL="0">
              <a:spcAft>
                <a:spcPts val="600"/>
              </a:spcAft>
              <a:buNone/>
            </a:pPr>
            <a:r>
              <a:rPr lang="en-US" sz="1400" dirty="0">
                <a:solidFill>
                  <a:schemeClr val="tx1"/>
                </a:solidFill>
              </a:rPr>
              <a:t>: historial y restauración de versiones.</a:t>
            </a:r>
            <a:endParaRPr lang="en-US" sz="1400" dirty="0"/>
          </a:p>
          <a:p>
            <a:pPr indent="0" marL="0">
              <a:buNone/>
            </a:pPr>
            <a:r>
              <a:rPr lang="en-US" sz="1400" b="1" dirty="0">
                <a:solidFill>
                  <a:schemeClr val="tx1"/>
                </a:solidFill>
              </a:rPr>
              <a:t>RF-GDA-13</a:t>
            </a:r>
            <a:pPr indent="0" marL="0">
              <a:buNone/>
            </a:pPr>
            <a:r>
              <a:rPr lang="en-US" sz="1400" dirty="0">
                <a:solidFill>
                  <a:schemeClr val="tx1"/>
                </a:solidFill>
              </a:rPr>
              <a:t>: rollback al rechazar un documento.</a:t>
            </a:r>
            <a:endParaRPr lang="en-US" sz="1400" dirty="0"/>
          </a:p>
        </p:txBody>
      </p:sp>
      <p:sp>
        <p:nvSpPr>
          <p:cNvPr id="31" name="Fuente"/>
          <p:cNvSpPr txBox="1"/>
          <p:nvPr/>
        </p:nvSpPr>
        <p:spPr>
          <a:xfrm>
            <a:off x="548640" y="4663440"/>
            <a:ext cx="8046720" cy="228600"/>
          </a:xfrm>
          <a:prstGeom prst="rect">
            <a:avLst/>
          </a:prstGeom>
          <a:noFill/>
          <a:ln/>
        </p:spPr>
        <p:txBody>
          <a:bodyPr wrap="square" lIns="0" tIns="0" rIns="0" bIns="0" rtlCol="0" anchor="t"/>
          <a:lstStyle/>
          <a:p>
            <a:pPr indent="0" marL="0">
              <a:buNone/>
            </a:pPr>
            <a:r>
              <a:rPr lang="en-US" sz="1000" dirty="0">
                <a:solidFill>
                  <a:schemeClr val="accent6"/>
                </a:solidFill>
              </a:rPr>
              <a:t>Fuente: diagrama de elaboración propia, proyecto del curso (módulo GDA).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Pertinencia e impacto</a:t>
            </a:r>
            <a:endParaRPr lang="en-US" sz="3600" dirty="0"/>
          </a:p>
        </p:txBody>
      </p:sp>
      <p:sp>
        <p:nvSpPr>
          <p:cNvPr id="3" name="Tarjeta comparación 1"/>
          <p:cNvSpPr/>
          <p:nvPr/>
        </p:nvSpPr>
        <p:spPr>
          <a:xfrm>
            <a:off x="548640" y="1371600"/>
            <a:ext cx="3931920" cy="1325880"/>
          </a:xfrm>
          <a:prstGeom prst="roundRect">
            <a:avLst>
              <a:gd name="adj" fmla="val 8276"/>
            </a:avLst>
          </a:prstGeom>
          <a:solidFill>
            <a:schemeClr val="bg2"/>
          </a:solidFill>
          <a:ln/>
        </p:spPr>
      </p:sp>
      <p:sp>
        <p:nvSpPr>
          <p:cNvPr id="4" name="Etiqueta MEMENTO SEGÚN LA GoF"/>
          <p:cNvSpPr txBox="1"/>
          <p:nvPr/>
        </p:nvSpPr>
        <p:spPr>
          <a:xfrm>
            <a:off x="777240" y="1508760"/>
            <a:ext cx="3474720" cy="228600"/>
          </a:xfrm>
          <a:prstGeom prst="rect">
            <a:avLst/>
          </a:prstGeom>
          <a:noFill/>
          <a:ln/>
        </p:spPr>
        <p:txBody>
          <a:bodyPr wrap="square" lIns="0" tIns="0" rIns="0" bIns="0" rtlCol="0" anchor="t"/>
          <a:lstStyle/>
          <a:p>
            <a:pPr indent="0" marL="0">
              <a:buNone/>
            </a:pPr>
            <a:r>
              <a:rPr lang="en-US" sz="1200" b="1" spc="200" kern="0" dirty="0">
                <a:solidFill>
                  <a:schemeClr val="accent6"/>
                </a:solidFill>
              </a:rPr>
              <a:t>MEMENTO SEGÚN LA GoF</a:t>
            </a:r>
            <a:endParaRPr lang="en-US" sz="1200" dirty="0"/>
          </a:p>
        </p:txBody>
      </p:sp>
      <p:sp>
        <p:nvSpPr>
          <p:cNvPr id="5" name="Texto comparación 1"/>
          <p:cNvSpPr txBox="1"/>
          <p:nvPr/>
        </p:nvSpPr>
        <p:spPr>
          <a:xfrm>
            <a:off x="777240" y="1828800"/>
            <a:ext cx="3474720" cy="777240"/>
          </a:xfrm>
          <a:prstGeom prst="rect">
            <a:avLst/>
          </a:prstGeom>
          <a:noFill/>
          <a:ln/>
        </p:spPr>
        <p:txBody>
          <a:bodyPr wrap="square" lIns="0" tIns="0" rIns="0" bIns="0" rtlCol="0" anchor="t"/>
          <a:lstStyle/>
          <a:p>
            <a:pPr indent="0" marL="0">
              <a:buNone/>
            </a:pPr>
            <a:r>
              <a:rPr lang="en-US" sz="1400" b="1" dirty="0">
                <a:solidFill>
                  <a:schemeClr val="tx2"/>
                </a:solidFill>
              </a:rPr>
              <a:t>El memento copia el estado del originator; el costo crece con su tamaño.</a:t>
            </a:r>
            <a:endParaRPr lang="en-US" sz="1400" dirty="0"/>
          </a:p>
        </p:txBody>
      </p:sp>
      <p:sp>
        <p:nvSpPr>
          <p:cNvPr id="6" name="Tarjeta comparación 2"/>
          <p:cNvSpPr/>
          <p:nvPr/>
        </p:nvSpPr>
        <p:spPr>
          <a:xfrm>
            <a:off x="4663440" y="1371600"/>
            <a:ext cx="3931920" cy="1325880"/>
          </a:xfrm>
          <a:prstGeom prst="roundRect">
            <a:avLst>
              <a:gd name="adj" fmla="val 8276"/>
            </a:avLst>
          </a:prstGeom>
          <a:solidFill>
            <a:schemeClr val="bg2"/>
          </a:solidFill>
          <a:ln/>
        </p:spPr>
      </p:sp>
      <p:sp>
        <p:nvSpPr>
          <p:cNvPr id="7" name="Etiqueta MEMENTO ADAPTADO EN GDA"/>
          <p:cNvSpPr txBox="1"/>
          <p:nvPr/>
        </p:nvSpPr>
        <p:spPr>
          <a:xfrm>
            <a:off x="4892040" y="1508760"/>
            <a:ext cx="347472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MEMENTO ADAPTADO EN GDA</a:t>
            </a:r>
            <a:endParaRPr lang="en-US" sz="1200" dirty="0"/>
          </a:p>
        </p:txBody>
      </p:sp>
      <p:sp>
        <p:nvSpPr>
          <p:cNvPr id="8" name="Texto comparación 2"/>
          <p:cNvSpPr txBox="1"/>
          <p:nvPr/>
        </p:nvSpPr>
        <p:spPr>
          <a:xfrm>
            <a:off x="4892040" y="1828800"/>
            <a:ext cx="3474720" cy="777240"/>
          </a:xfrm>
          <a:prstGeom prst="rect">
            <a:avLst/>
          </a:prstGeom>
          <a:noFill/>
          <a:ln/>
        </p:spPr>
        <p:txBody>
          <a:bodyPr wrap="square" lIns="0" tIns="0" rIns="0" bIns="0" rtlCol="0" anchor="t"/>
          <a:lstStyle/>
          <a:p>
            <a:pPr indent="0" marL="0">
              <a:buNone/>
            </a:pPr>
            <a:r>
              <a:rPr lang="en-US" sz="1400" b="1" dirty="0">
                <a:solidFill>
                  <a:schemeClr val="tx2"/>
                </a:solidFill>
              </a:rPr>
              <a:t>Guarda metadatos, hash SHA-256 y la URI del Object Storage, no el binario del documento.</a:t>
            </a:r>
            <a:endParaRPr lang="en-US" sz="1400" dirty="0"/>
          </a:p>
        </p:txBody>
      </p:sp>
      <p:sp>
        <p:nvSpPr>
          <p:cNvPr id="9" name="Tarjeta impacto 1"/>
          <p:cNvSpPr/>
          <p:nvPr/>
        </p:nvSpPr>
        <p:spPr>
          <a:xfrm>
            <a:off x="548640" y="2880360"/>
            <a:ext cx="2560320" cy="1600200"/>
          </a:xfrm>
          <a:prstGeom prst="roundRect">
            <a:avLst>
              <a:gd name="adj" fmla="val 6857"/>
            </a:avLst>
          </a:prstGeom>
          <a:solidFill>
            <a:schemeClr val="accent1">
              <a:alpha val="15000"/>
            </a:schemeClr>
          </a:solidFill>
          <a:ln/>
        </p:spPr>
      </p:sp>
      <p:sp>
        <p:nvSpPr>
          <p:cNvPr id="10" name="Texto impacto 1"/>
          <p:cNvSpPr txBox="1"/>
          <p:nvPr/>
        </p:nvSpPr>
        <p:spPr>
          <a:xfrm>
            <a:off x="731520" y="2971800"/>
            <a:ext cx="2194560" cy="1417320"/>
          </a:xfrm>
          <a:prstGeom prst="rect">
            <a:avLst/>
          </a:prstGeom>
          <a:noFill/>
          <a:ln/>
        </p:spPr>
        <p:txBody>
          <a:bodyPr wrap="square" lIns="0" tIns="0" rIns="0" bIns="0" rtlCol="0" anchor="ctr"/>
          <a:lstStyle/>
          <a:p>
            <a:pPr indent="0" marL="0">
              <a:spcAft>
                <a:spcPts val="400"/>
              </a:spcAft>
              <a:buNone/>
            </a:pPr>
            <a:r>
              <a:rPr lang="en-US" sz="1400" b="1" dirty="0">
                <a:solidFill>
                  <a:schemeClr val="tx2"/>
                </a:solidFill>
              </a:rPr>
              <a:t>Integridad y trazabilidad</a:t>
            </a:r>
            <a:endParaRPr lang="en-US" sz="1400" dirty="0"/>
          </a:p>
          <a:p>
            <a:pPr indent="0" marL="0">
              <a:buNone/>
            </a:pPr>
            <a:r>
              <a:rPr lang="en-US" sz="1400" dirty="0">
                <a:solidFill>
                  <a:schemeClr val="tx1"/>
                </a:solidFill>
              </a:rPr>
              <a:t>Cada versión queda protegida e identificable con su hash.</a:t>
            </a:r>
            <a:endParaRPr lang="en-US" sz="1400" dirty="0"/>
          </a:p>
        </p:txBody>
      </p:sp>
      <p:sp>
        <p:nvSpPr>
          <p:cNvPr id="11" name="Tarjeta impacto 2"/>
          <p:cNvSpPr/>
          <p:nvPr/>
        </p:nvSpPr>
        <p:spPr>
          <a:xfrm>
            <a:off x="3291840" y="2880360"/>
            <a:ext cx="2560320" cy="1600200"/>
          </a:xfrm>
          <a:prstGeom prst="roundRect">
            <a:avLst>
              <a:gd name="adj" fmla="val 6857"/>
            </a:avLst>
          </a:prstGeom>
          <a:solidFill>
            <a:schemeClr val="accent1">
              <a:alpha val="15000"/>
            </a:schemeClr>
          </a:solidFill>
          <a:ln/>
        </p:spPr>
      </p:sp>
      <p:sp>
        <p:nvSpPr>
          <p:cNvPr id="12" name="Texto impacto 2"/>
          <p:cNvSpPr txBox="1"/>
          <p:nvPr/>
        </p:nvSpPr>
        <p:spPr>
          <a:xfrm>
            <a:off x="3474720" y="2971800"/>
            <a:ext cx="2194560" cy="1417320"/>
          </a:xfrm>
          <a:prstGeom prst="rect">
            <a:avLst/>
          </a:prstGeom>
          <a:noFill/>
          <a:ln/>
        </p:spPr>
        <p:txBody>
          <a:bodyPr wrap="square" lIns="0" tIns="0" rIns="0" bIns="0" rtlCol="0" anchor="ctr"/>
          <a:lstStyle/>
          <a:p>
            <a:pPr indent="0" marL="0">
              <a:spcAft>
                <a:spcPts val="400"/>
              </a:spcAft>
              <a:buNone/>
            </a:pPr>
            <a:r>
              <a:rPr lang="en-US" sz="1400" b="1" dirty="0">
                <a:solidFill>
                  <a:schemeClr val="tx2"/>
                </a:solidFill>
              </a:rPr>
              <a:t>Modificabilidad</a:t>
            </a:r>
            <a:endParaRPr lang="en-US" sz="1400" dirty="0"/>
          </a:p>
          <a:p>
            <a:pPr indent="0" marL="0">
              <a:buNone/>
            </a:pPr>
            <a:r>
              <a:rPr lang="en-US" sz="1400" dirty="0">
                <a:solidFill>
                  <a:schemeClr val="tx1"/>
                </a:solidFill>
              </a:rPr>
              <a:t>El historial no depende de los campos privados del documento.</a:t>
            </a:r>
            <a:endParaRPr lang="en-US" sz="1400" dirty="0"/>
          </a:p>
        </p:txBody>
      </p:sp>
      <p:sp>
        <p:nvSpPr>
          <p:cNvPr id="13" name="Tarjeta impacto 3"/>
          <p:cNvSpPr/>
          <p:nvPr/>
        </p:nvSpPr>
        <p:spPr>
          <a:xfrm>
            <a:off x="6035040" y="2880360"/>
            <a:ext cx="2560320" cy="1600200"/>
          </a:xfrm>
          <a:prstGeom prst="roundRect">
            <a:avLst>
              <a:gd name="adj" fmla="val 6857"/>
            </a:avLst>
          </a:prstGeom>
          <a:solidFill>
            <a:schemeClr val="accent1">
              <a:alpha val="15000"/>
            </a:schemeClr>
          </a:solidFill>
          <a:ln/>
        </p:spPr>
      </p:sp>
      <p:sp>
        <p:nvSpPr>
          <p:cNvPr id="14" name="Texto impacto 3"/>
          <p:cNvSpPr txBox="1"/>
          <p:nvPr/>
        </p:nvSpPr>
        <p:spPr>
          <a:xfrm>
            <a:off x="6217920" y="2971800"/>
            <a:ext cx="2194560" cy="1417320"/>
          </a:xfrm>
          <a:prstGeom prst="rect">
            <a:avLst/>
          </a:prstGeom>
          <a:noFill/>
          <a:ln/>
        </p:spPr>
        <p:txBody>
          <a:bodyPr wrap="square" lIns="0" tIns="0" rIns="0" bIns="0" rtlCol="0" anchor="ctr"/>
          <a:lstStyle/>
          <a:p>
            <a:pPr indent="0" marL="0">
              <a:spcAft>
                <a:spcPts val="400"/>
              </a:spcAft>
              <a:buNone/>
            </a:pPr>
            <a:r>
              <a:rPr lang="en-US" sz="1400" b="1" dirty="0">
                <a:solidFill>
                  <a:schemeClr val="tx2"/>
                </a:solidFill>
              </a:rPr>
              <a:t>Memoria y custodia</a:t>
            </a:r>
            <a:endParaRPr lang="en-US" sz="1400" dirty="0"/>
          </a:p>
          <a:p>
            <a:pPr indent="0" marL="0">
              <a:buNone/>
            </a:pPr>
            <a:r>
              <a:rPr lang="en-US" sz="1400" dirty="0">
                <a:solidFill>
                  <a:schemeClr val="tx1"/>
                </a:solidFill>
              </a:rPr>
              <a:t>Snapshots livianos; el caretaker necesita política de retención.</a:t>
            </a:r>
            <a:endParaRPr lang="en-US" sz="1400" dirty="0"/>
          </a:p>
        </p:txBody>
      </p:sp>
      <p:sp>
        <p:nvSpPr>
          <p:cNvPr id="15" name="Fuente"/>
          <p:cNvSpPr txBox="1"/>
          <p:nvPr/>
        </p:nvSpPr>
        <p:spPr>
          <a:xfrm>
            <a:off x="548640" y="4663440"/>
            <a:ext cx="8046720" cy="228600"/>
          </a:xfrm>
          <a:prstGeom prst="rect">
            <a:avLst/>
          </a:prstGeom>
          <a:noFill/>
          <a:ln/>
        </p:spPr>
        <p:txBody>
          <a:bodyPr wrap="square" lIns="0" tIns="0" rIns="0" bIns="0" rtlCol="0" anchor="t"/>
          <a:lstStyle/>
          <a:p>
            <a:pPr indent="0" marL="0">
              <a:buNone/>
            </a:pPr>
            <a:r>
              <a:rPr lang="en-US" sz="1000" dirty="0">
                <a:solidFill>
                  <a:schemeClr val="accent6"/>
                </a:solidFill>
              </a:rPr>
              <a:t>Fuente: GoF (1994) para las consecuencias del patrón; análisis de elaboración propia sobre el módulo GDA.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Usos conocidos y relacionados</a:t>
            </a:r>
            <a:endParaRPr lang="en-US" sz="3600" dirty="0"/>
          </a:p>
        </p:txBody>
      </p:sp>
      <p:sp>
        <p:nvSpPr>
          <p:cNvPr id="3" name="Etiqueta USOS CONOCIDOS"/>
          <p:cNvSpPr txBox="1"/>
          <p:nvPr/>
        </p:nvSpPr>
        <p:spPr>
          <a:xfrm>
            <a:off x="548640" y="1371600"/>
            <a:ext cx="484632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USOS CONOCIDOS</a:t>
            </a:r>
            <a:endParaRPr lang="en-US" sz="1200" dirty="0"/>
          </a:p>
        </p:txBody>
      </p:sp>
      <p:sp>
        <p:nvSpPr>
          <p:cNvPr id="4" name="Tarjeta uso 1"/>
          <p:cNvSpPr/>
          <p:nvPr/>
        </p:nvSpPr>
        <p:spPr>
          <a:xfrm>
            <a:off x="548640" y="1691640"/>
            <a:ext cx="2331720" cy="1325880"/>
          </a:xfrm>
          <a:prstGeom prst="roundRect">
            <a:avLst>
              <a:gd name="adj" fmla="val 8276"/>
            </a:avLst>
          </a:prstGeom>
          <a:solidFill>
            <a:schemeClr val="bg2"/>
          </a:solidFill>
          <a:ln/>
        </p:spPr>
      </p:sp>
      <p:sp>
        <p:nvSpPr>
          <p:cNvPr id="5" name="Texto uso 1"/>
          <p:cNvSpPr txBox="1"/>
          <p:nvPr/>
        </p:nvSpPr>
        <p:spPr>
          <a:xfrm>
            <a:off x="731520" y="1691640"/>
            <a:ext cx="1965960" cy="1325880"/>
          </a:xfrm>
          <a:prstGeom prst="rect">
            <a:avLst/>
          </a:prstGeom>
          <a:noFill/>
          <a:ln/>
        </p:spPr>
        <p:txBody>
          <a:bodyPr wrap="square" lIns="0" tIns="0" rIns="0" bIns="0" rtlCol="0" anchor="ctr"/>
          <a:lstStyle/>
          <a:p>
            <a:pPr indent="0" marL="0">
              <a:spcAft>
                <a:spcPts val="300"/>
              </a:spcAft>
              <a:buNone/>
            </a:pPr>
            <a:r>
              <a:rPr lang="en-US" sz="1400" b="1" dirty="0">
                <a:solidFill>
                  <a:schemeClr val="tx2"/>
                </a:solidFill>
              </a:rPr>
              <a:t>Deshacer y rehacer</a:t>
            </a:r>
            <a:endParaRPr lang="en-US" sz="1400" dirty="0"/>
          </a:p>
          <a:p>
            <a:pPr indent="0" marL="0">
              <a:buNone/>
            </a:pPr>
            <a:r>
              <a:rPr lang="en-US" sz="1400" dirty="0">
                <a:solidFill>
                  <a:schemeClr val="tx1"/>
                </a:solidFill>
              </a:rPr>
              <a:t>Editores de texto, imágenes o diagramas restauran su estado anterior.</a:t>
            </a:r>
            <a:endParaRPr lang="en-US" sz="1400" dirty="0"/>
          </a:p>
        </p:txBody>
      </p:sp>
      <p:sp>
        <p:nvSpPr>
          <p:cNvPr id="6" name="Tarjeta uso 2"/>
          <p:cNvSpPr/>
          <p:nvPr/>
        </p:nvSpPr>
        <p:spPr>
          <a:xfrm>
            <a:off x="3063240" y="1691640"/>
            <a:ext cx="2331720" cy="1325880"/>
          </a:xfrm>
          <a:prstGeom prst="roundRect">
            <a:avLst>
              <a:gd name="adj" fmla="val 8276"/>
            </a:avLst>
          </a:prstGeom>
          <a:solidFill>
            <a:schemeClr val="bg2"/>
          </a:solidFill>
          <a:ln/>
        </p:spPr>
      </p:sp>
      <p:sp>
        <p:nvSpPr>
          <p:cNvPr id="7" name="Texto uso 2"/>
          <p:cNvSpPr txBox="1"/>
          <p:nvPr/>
        </p:nvSpPr>
        <p:spPr>
          <a:xfrm>
            <a:off x="3246120" y="1691640"/>
            <a:ext cx="1965960" cy="1325880"/>
          </a:xfrm>
          <a:prstGeom prst="rect">
            <a:avLst/>
          </a:prstGeom>
          <a:noFill/>
          <a:ln/>
        </p:spPr>
        <p:txBody>
          <a:bodyPr wrap="square" lIns="0" tIns="0" rIns="0" bIns="0" rtlCol="0" anchor="ctr"/>
          <a:lstStyle/>
          <a:p>
            <a:pPr indent="0" marL="0">
              <a:spcAft>
                <a:spcPts val="300"/>
              </a:spcAft>
              <a:buNone/>
            </a:pPr>
            <a:r>
              <a:rPr lang="en-US" sz="1400" b="1" dirty="0">
                <a:solidFill>
                  <a:schemeClr val="tx2"/>
                </a:solidFill>
              </a:rPr>
              <a:t>Historial de cambios</a:t>
            </a:r>
            <a:endParaRPr lang="en-US" sz="1400" dirty="0"/>
          </a:p>
          <a:p>
            <a:pPr indent="0" marL="0">
              <a:buNone/>
            </a:pPr>
            <a:r>
              <a:rPr lang="en-US" sz="1400" dirty="0">
                <a:solidFill>
                  <a:schemeClr val="tx1"/>
                </a:solidFill>
              </a:rPr>
              <a:t>Control de versiones de documentos y de configuraciones.</a:t>
            </a:r>
            <a:endParaRPr lang="en-US" sz="1400" dirty="0"/>
          </a:p>
        </p:txBody>
      </p:sp>
      <p:sp>
        <p:nvSpPr>
          <p:cNvPr id="8" name="Tarjeta uso 3"/>
          <p:cNvSpPr/>
          <p:nvPr/>
        </p:nvSpPr>
        <p:spPr>
          <a:xfrm>
            <a:off x="548640" y="3154680"/>
            <a:ext cx="2331720" cy="1325880"/>
          </a:xfrm>
          <a:prstGeom prst="roundRect">
            <a:avLst>
              <a:gd name="adj" fmla="val 8276"/>
            </a:avLst>
          </a:prstGeom>
          <a:solidFill>
            <a:schemeClr val="bg2"/>
          </a:solidFill>
          <a:ln/>
        </p:spPr>
      </p:sp>
      <p:sp>
        <p:nvSpPr>
          <p:cNvPr id="9" name="Texto uso 3"/>
          <p:cNvSpPr txBox="1"/>
          <p:nvPr/>
        </p:nvSpPr>
        <p:spPr>
          <a:xfrm>
            <a:off x="731520" y="3154680"/>
            <a:ext cx="1965960" cy="1325880"/>
          </a:xfrm>
          <a:prstGeom prst="rect">
            <a:avLst/>
          </a:prstGeom>
          <a:noFill/>
          <a:ln/>
        </p:spPr>
        <p:txBody>
          <a:bodyPr wrap="square" lIns="0" tIns="0" rIns="0" bIns="0" rtlCol="0" anchor="ctr"/>
          <a:lstStyle/>
          <a:p>
            <a:pPr indent="0" marL="0">
              <a:spcAft>
                <a:spcPts val="300"/>
              </a:spcAft>
              <a:buNone/>
            </a:pPr>
            <a:r>
              <a:rPr lang="en-US" sz="1400" b="1" dirty="0">
                <a:solidFill>
                  <a:schemeClr val="tx2"/>
                </a:solidFill>
              </a:rPr>
              <a:t>Partidas guardadas</a:t>
            </a:r>
            <a:endParaRPr lang="en-US" sz="1400" dirty="0"/>
          </a:p>
          <a:p>
            <a:pPr indent="0" marL="0">
              <a:buNone/>
            </a:pPr>
            <a:r>
              <a:rPr lang="en-US" sz="1400" dirty="0">
                <a:solidFill>
                  <a:schemeClr val="tx1"/>
                </a:solidFill>
              </a:rPr>
              <a:t>Los videojuegos guardan el estado del juego para retomarlo después.</a:t>
            </a:r>
            <a:endParaRPr lang="en-US" sz="1400" dirty="0"/>
          </a:p>
        </p:txBody>
      </p:sp>
      <p:sp>
        <p:nvSpPr>
          <p:cNvPr id="10" name="Tarjeta uso 4"/>
          <p:cNvSpPr/>
          <p:nvPr/>
        </p:nvSpPr>
        <p:spPr>
          <a:xfrm>
            <a:off x="3063240" y="3154680"/>
            <a:ext cx="2331720" cy="1325880"/>
          </a:xfrm>
          <a:prstGeom prst="roundRect">
            <a:avLst>
              <a:gd name="adj" fmla="val 8276"/>
            </a:avLst>
          </a:prstGeom>
          <a:solidFill>
            <a:schemeClr val="bg2"/>
          </a:solidFill>
          <a:ln/>
        </p:spPr>
      </p:sp>
      <p:sp>
        <p:nvSpPr>
          <p:cNvPr id="11" name="Texto uso 4"/>
          <p:cNvSpPr txBox="1"/>
          <p:nvPr/>
        </p:nvSpPr>
        <p:spPr>
          <a:xfrm>
            <a:off x="3246120" y="3154680"/>
            <a:ext cx="1965960" cy="1325880"/>
          </a:xfrm>
          <a:prstGeom prst="rect">
            <a:avLst/>
          </a:prstGeom>
          <a:noFill/>
          <a:ln/>
        </p:spPr>
        <p:txBody>
          <a:bodyPr wrap="square" lIns="0" tIns="0" rIns="0" bIns="0" rtlCol="0" anchor="ctr"/>
          <a:lstStyle/>
          <a:p>
            <a:pPr indent="0" marL="0">
              <a:spcAft>
                <a:spcPts val="300"/>
              </a:spcAft>
              <a:buNone/>
            </a:pPr>
            <a:r>
              <a:rPr lang="en-US" sz="1400" b="1" dirty="0">
                <a:solidFill>
                  <a:schemeClr val="tx2"/>
                </a:solidFill>
              </a:rPr>
              <a:t>Puntos de restauración</a:t>
            </a:r>
            <a:endParaRPr lang="en-US" sz="1400" dirty="0"/>
          </a:p>
          <a:p>
            <a:pPr indent="0" marL="0">
              <a:buNone/>
            </a:pPr>
            <a:r>
              <a:rPr lang="en-US" sz="1400" dirty="0">
                <a:solidFill>
                  <a:schemeClr val="tx1"/>
                </a:solidFill>
              </a:rPr>
              <a:t>Sistemas y aplicaciones vuelven a un estado estable tras un error.</a:t>
            </a:r>
            <a:endParaRPr lang="en-US" sz="1400" dirty="0"/>
          </a:p>
        </p:txBody>
      </p:sp>
      <p:sp>
        <p:nvSpPr>
          <p:cNvPr id="12" name="Etiqueta PATRONES RELACIONADOS"/>
          <p:cNvSpPr txBox="1"/>
          <p:nvPr/>
        </p:nvSpPr>
        <p:spPr>
          <a:xfrm>
            <a:off x="5577840" y="1371600"/>
            <a:ext cx="3017520" cy="228600"/>
          </a:xfrm>
          <a:prstGeom prst="rect">
            <a:avLst/>
          </a:prstGeom>
          <a:noFill/>
          <a:ln/>
        </p:spPr>
        <p:txBody>
          <a:bodyPr wrap="square" lIns="0" tIns="0" rIns="0" bIns="0" rtlCol="0" anchor="t"/>
          <a:lstStyle/>
          <a:p>
            <a:pPr indent="0" marL="0">
              <a:buNone/>
            </a:pPr>
            <a:r>
              <a:rPr lang="en-US" sz="1200" b="1" spc="200" kern="0" dirty="0">
                <a:solidFill>
                  <a:schemeClr val="accent3"/>
                </a:solidFill>
              </a:rPr>
              <a:t>PATRONES RELACIONADOS</a:t>
            </a:r>
            <a:endParaRPr lang="en-US" sz="1200" dirty="0"/>
          </a:p>
        </p:txBody>
      </p:sp>
      <p:sp>
        <p:nvSpPr>
          <p:cNvPr id="13" name="Tarjeta relacionado 1"/>
          <p:cNvSpPr/>
          <p:nvPr/>
        </p:nvSpPr>
        <p:spPr>
          <a:xfrm>
            <a:off x="5577840" y="1691640"/>
            <a:ext cx="3017520" cy="1325880"/>
          </a:xfrm>
          <a:prstGeom prst="roundRect">
            <a:avLst>
              <a:gd name="adj" fmla="val 8276"/>
            </a:avLst>
          </a:prstGeom>
          <a:solidFill>
            <a:schemeClr val="accent3">
              <a:alpha val="15000"/>
            </a:schemeClr>
          </a:solidFill>
          <a:ln/>
        </p:spPr>
      </p:sp>
      <p:sp>
        <p:nvSpPr>
          <p:cNvPr id="14" name="Texto relacionado 1"/>
          <p:cNvSpPr txBox="1"/>
          <p:nvPr/>
        </p:nvSpPr>
        <p:spPr>
          <a:xfrm>
            <a:off x="5760720" y="1691640"/>
            <a:ext cx="2651760" cy="1325880"/>
          </a:xfrm>
          <a:prstGeom prst="rect">
            <a:avLst/>
          </a:prstGeom>
          <a:noFill/>
          <a:ln/>
        </p:spPr>
        <p:txBody>
          <a:bodyPr wrap="square" lIns="0" tIns="0" rIns="0" bIns="0" rtlCol="0" anchor="ctr"/>
          <a:lstStyle/>
          <a:p>
            <a:pPr indent="0" marL="0">
              <a:buNone/>
            </a:pPr>
            <a:r>
              <a:rPr lang="en-US" sz="1400" b="1" dirty="0">
                <a:solidFill>
                  <a:schemeClr val="tx2"/>
                </a:solidFill>
              </a:rPr>
              <a:t>Command</a:t>
            </a:r>
            <a:endParaRPr lang="en-US" sz="1400" dirty="0"/>
          </a:p>
          <a:p>
            <a:pPr indent="0" marL="0">
              <a:buNone/>
            </a:pPr>
            <a:r>
              <a:rPr lang="en-US" sz="1400" dirty="0">
                <a:solidFill>
                  <a:schemeClr val="tx1"/>
                </a:solidFill>
              </a:rPr>
              <a:t>Los comandos usan mementos para mantener el estado de operaciones deshacibles.</a:t>
            </a:r>
            <a:endParaRPr lang="en-US" sz="1400" dirty="0"/>
          </a:p>
        </p:txBody>
      </p:sp>
      <p:sp>
        <p:nvSpPr>
          <p:cNvPr id="15" name="Tarjeta relacionado 2"/>
          <p:cNvSpPr/>
          <p:nvPr/>
        </p:nvSpPr>
        <p:spPr>
          <a:xfrm>
            <a:off x="5577840" y="3154680"/>
            <a:ext cx="3017520" cy="1325880"/>
          </a:xfrm>
          <a:prstGeom prst="roundRect">
            <a:avLst>
              <a:gd name="adj" fmla="val 8276"/>
            </a:avLst>
          </a:prstGeom>
          <a:solidFill>
            <a:schemeClr val="accent3">
              <a:alpha val="15000"/>
            </a:schemeClr>
          </a:solidFill>
          <a:ln/>
        </p:spPr>
      </p:sp>
      <p:sp>
        <p:nvSpPr>
          <p:cNvPr id="16" name="Texto relacionado 2"/>
          <p:cNvSpPr txBox="1"/>
          <p:nvPr/>
        </p:nvSpPr>
        <p:spPr>
          <a:xfrm>
            <a:off x="5760720" y="3154680"/>
            <a:ext cx="2651760" cy="1325880"/>
          </a:xfrm>
          <a:prstGeom prst="rect">
            <a:avLst/>
          </a:prstGeom>
          <a:noFill/>
          <a:ln/>
        </p:spPr>
        <p:txBody>
          <a:bodyPr wrap="square" lIns="0" tIns="0" rIns="0" bIns="0" rtlCol="0" anchor="ctr"/>
          <a:lstStyle/>
          <a:p>
            <a:pPr indent="0" marL="0">
              <a:buNone/>
            </a:pPr>
            <a:r>
              <a:rPr lang="en-US" sz="1400" b="1" dirty="0">
                <a:solidFill>
                  <a:schemeClr val="tx2"/>
                </a:solidFill>
              </a:rPr>
              <a:t>Iterator</a:t>
            </a:r>
            <a:endParaRPr lang="en-US" sz="1400" dirty="0"/>
          </a:p>
          <a:p>
            <a:pPr indent="0" marL="0">
              <a:buNone/>
            </a:pPr>
            <a:r>
              <a:rPr lang="en-US" sz="1400" dirty="0">
                <a:solidFill>
                  <a:schemeClr val="tx1"/>
                </a:solidFill>
              </a:rPr>
              <a:t>Los mementos pueden servir para iterar, como en las colecciones de Dylan.</a:t>
            </a:r>
            <a:endParaRPr lang="en-US" sz="1400" dirty="0"/>
          </a:p>
        </p:txBody>
      </p:sp>
      <p:sp>
        <p:nvSpPr>
          <p:cNvPr id="17" name="Fuente"/>
          <p:cNvSpPr txBox="1"/>
          <p:nvPr/>
        </p:nvSpPr>
        <p:spPr>
          <a:xfrm>
            <a:off x="548640" y="4663440"/>
            <a:ext cx="8046720" cy="228600"/>
          </a:xfrm>
          <a:prstGeom prst="rect">
            <a:avLst/>
          </a:prstGeom>
          <a:noFill/>
          <a:ln/>
        </p:spPr>
        <p:txBody>
          <a:bodyPr wrap="square" lIns="0" tIns="0" rIns="0" bIns="0" rtlCol="0" anchor="t"/>
          <a:lstStyle/>
          <a:p>
            <a:pPr indent="0" marL="0">
              <a:buNone/>
            </a:pPr>
            <a:r>
              <a:rPr lang="en-US" sz="1000" dirty="0">
                <a:solidFill>
                  <a:schemeClr val="accent6"/>
                </a:solidFill>
              </a:rPr>
              <a:t>Usos de elaboración propia; patrones relacionados según Gamma, Helm, Johnson y Vlissides (1994). Design Patterns.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Actividad en clase</a:t>
            </a:r>
            <a:endParaRPr lang="en-US" sz="3600" dirty="0"/>
          </a:p>
        </p:txBody>
      </p:sp>
      <p:sp>
        <p:nvSpPr>
          <p:cNvPr id="3" name="Tarjeta caso"/>
          <p:cNvSpPr/>
          <p:nvPr/>
        </p:nvSpPr>
        <p:spPr>
          <a:xfrm>
            <a:off x="548640" y="1371600"/>
            <a:ext cx="3291840" cy="3108960"/>
          </a:xfrm>
          <a:prstGeom prst="roundRect">
            <a:avLst>
              <a:gd name="adj" fmla="val 3529"/>
            </a:avLst>
          </a:prstGeom>
          <a:solidFill>
            <a:schemeClr val="accent4"/>
          </a:solidFill>
          <a:ln/>
        </p:spPr>
      </p:sp>
      <p:sp>
        <p:nvSpPr>
          <p:cNvPr id="4" name="Etiqueta CASO"/>
          <p:cNvSpPr txBox="1"/>
          <p:nvPr/>
        </p:nvSpPr>
        <p:spPr>
          <a:xfrm>
            <a:off x="822960" y="1554480"/>
            <a:ext cx="2743200" cy="228600"/>
          </a:xfrm>
          <a:prstGeom prst="rect">
            <a:avLst/>
          </a:prstGeom>
          <a:noFill/>
          <a:ln/>
        </p:spPr>
        <p:txBody>
          <a:bodyPr wrap="square" lIns="0" tIns="0" rIns="0" bIns="0" rtlCol="0" anchor="t"/>
          <a:lstStyle/>
          <a:p>
            <a:pPr indent="0" marL="0">
              <a:buNone/>
            </a:pPr>
            <a:r>
              <a:rPr lang="en-US" sz="1200" b="1" spc="200" kern="0" dirty="0">
                <a:solidFill>
                  <a:schemeClr val="accent2"/>
                </a:solidFill>
              </a:rPr>
              <a:t>CASO</a:t>
            </a:r>
            <a:endParaRPr lang="en-US" sz="1200" dirty="0"/>
          </a:p>
        </p:txBody>
      </p:sp>
      <p:sp>
        <p:nvSpPr>
          <p:cNvPr id="5" name="Texto caso"/>
          <p:cNvSpPr txBox="1"/>
          <p:nvPr/>
        </p:nvSpPr>
        <p:spPr>
          <a:xfrm>
            <a:off x="822960" y="1874520"/>
            <a:ext cx="2743200" cy="1645920"/>
          </a:xfrm>
          <a:prstGeom prst="rect">
            <a:avLst/>
          </a:prstGeom>
          <a:noFill/>
          <a:ln/>
        </p:spPr>
        <p:txBody>
          <a:bodyPr wrap="square" lIns="0" tIns="0" rIns="0" bIns="0" rtlCol="0" anchor="t"/>
          <a:lstStyle/>
          <a:p>
            <a:pPr indent="0" marL="0">
              <a:buNone/>
            </a:pPr>
            <a:r>
              <a:rPr lang="en-US" sz="1600" b="1" dirty="0">
                <a:solidFill>
                  <a:schemeClr val="bg1"/>
                </a:solidFill>
              </a:rPr>
              <a:t>Una aplicación de notas guarda el historial de versiones de cada nota y permite volver a una versión anterior.</a:t>
            </a:r>
            <a:endParaRPr lang="en-US" sz="1600" dirty="0"/>
          </a:p>
        </p:txBody>
      </p:sp>
      <p:sp>
        <p:nvSpPr>
          <p:cNvPr id="6" name="Entregable"/>
          <p:cNvSpPr txBox="1"/>
          <p:nvPr/>
        </p:nvSpPr>
        <p:spPr>
          <a:xfrm>
            <a:off x="822960" y="3657600"/>
            <a:ext cx="2743200" cy="640080"/>
          </a:xfrm>
          <a:prstGeom prst="rect">
            <a:avLst/>
          </a:prstGeom>
          <a:noFill/>
          <a:ln/>
        </p:spPr>
        <p:txBody>
          <a:bodyPr wrap="square" lIns="0" tIns="0" rIns="0" bIns="0" rtlCol="0" anchor="b"/>
          <a:lstStyle/>
          <a:p>
            <a:pPr indent="0" marL="0">
              <a:buNone/>
            </a:pPr>
            <a:r>
              <a:rPr lang="en-US" sz="1400" i="1" dirty="0">
                <a:solidFill>
                  <a:schemeClr val="accent2"/>
                </a:solidFill>
              </a:rPr>
              <a:t>Entregable: diagrama de clases y una respuesta breve.</a:t>
            </a:r>
            <a:endParaRPr lang="en-US" sz="1400" dirty="0"/>
          </a:p>
        </p:txBody>
      </p:sp>
      <p:sp>
        <p:nvSpPr>
          <p:cNvPr id="7" name="Tarjeta tarea 1"/>
          <p:cNvSpPr/>
          <p:nvPr/>
        </p:nvSpPr>
        <p:spPr>
          <a:xfrm>
            <a:off x="4114800" y="1371600"/>
            <a:ext cx="4480560" cy="1463040"/>
          </a:xfrm>
          <a:prstGeom prst="roundRect">
            <a:avLst>
              <a:gd name="adj" fmla="val 7500"/>
            </a:avLst>
          </a:prstGeom>
          <a:solidFill>
            <a:schemeClr val="bg2"/>
          </a:solidFill>
          <a:ln/>
        </p:spPr>
      </p:sp>
      <p:sp>
        <p:nvSpPr>
          <p:cNvPr id="8" name="Círculo 1"/>
          <p:cNvSpPr/>
          <p:nvPr/>
        </p:nvSpPr>
        <p:spPr>
          <a:xfrm>
            <a:off x="4343400" y="1874520"/>
            <a:ext cx="457200" cy="457200"/>
          </a:xfrm>
          <a:prstGeom prst="ellipse">
            <a:avLst/>
          </a:prstGeom>
          <a:solidFill>
            <a:schemeClr val="accent4"/>
          </a:solidFill>
          <a:ln/>
        </p:spPr>
      </p:sp>
      <p:sp>
        <p:nvSpPr>
          <p:cNvPr id="9" name="Número 1"/>
          <p:cNvSpPr txBox="1"/>
          <p:nvPr/>
        </p:nvSpPr>
        <p:spPr>
          <a:xfrm>
            <a:off x="4343400" y="18745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0" name="Tarea 1"/>
          <p:cNvSpPr txBox="1"/>
          <p:nvPr/>
        </p:nvSpPr>
        <p:spPr>
          <a:xfrm>
            <a:off x="5029200" y="1371600"/>
            <a:ext cx="3429000" cy="1463040"/>
          </a:xfrm>
          <a:prstGeom prst="rect">
            <a:avLst/>
          </a:prstGeom>
          <a:noFill/>
          <a:ln/>
        </p:spPr>
        <p:txBody>
          <a:bodyPr wrap="square" lIns="0" tIns="0" rIns="0" bIns="0" rtlCol="0" anchor="ctr"/>
          <a:lstStyle/>
          <a:p>
            <a:pPr indent="0" marL="0">
              <a:buNone/>
            </a:pPr>
            <a:r>
              <a:rPr lang="en-US" sz="1600" dirty="0">
                <a:solidFill>
                  <a:schemeClr val="tx1"/>
                </a:solidFill>
              </a:rPr>
              <a:t>Identifica el originator, el memento y el caretaker.</a:t>
            </a:r>
            <a:endParaRPr lang="en-US" sz="1600" dirty="0"/>
          </a:p>
        </p:txBody>
      </p:sp>
      <p:sp>
        <p:nvSpPr>
          <p:cNvPr id="11" name="Tarjeta tarea 2"/>
          <p:cNvSpPr/>
          <p:nvPr/>
        </p:nvSpPr>
        <p:spPr>
          <a:xfrm>
            <a:off x="4114800" y="3017520"/>
            <a:ext cx="4480560" cy="1463040"/>
          </a:xfrm>
          <a:prstGeom prst="roundRect">
            <a:avLst>
              <a:gd name="adj" fmla="val 7500"/>
            </a:avLst>
          </a:prstGeom>
          <a:solidFill>
            <a:schemeClr val="bg2"/>
          </a:solidFill>
          <a:ln/>
        </p:spPr>
      </p:sp>
      <p:sp>
        <p:nvSpPr>
          <p:cNvPr id="12" name="Círculo 2"/>
          <p:cNvSpPr/>
          <p:nvPr/>
        </p:nvSpPr>
        <p:spPr>
          <a:xfrm>
            <a:off x="4343400" y="3520440"/>
            <a:ext cx="457200" cy="457200"/>
          </a:xfrm>
          <a:prstGeom prst="ellipse">
            <a:avLst/>
          </a:prstGeom>
          <a:solidFill>
            <a:schemeClr val="accent1"/>
          </a:solidFill>
          <a:ln/>
        </p:spPr>
      </p:sp>
      <p:sp>
        <p:nvSpPr>
          <p:cNvPr id="13" name="Número 2"/>
          <p:cNvSpPr txBox="1"/>
          <p:nvPr/>
        </p:nvSpPr>
        <p:spPr>
          <a:xfrm>
            <a:off x="4343400" y="3520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Tarea 2"/>
          <p:cNvSpPr txBox="1"/>
          <p:nvPr/>
        </p:nvSpPr>
        <p:spPr>
          <a:xfrm>
            <a:off x="5029200" y="3017520"/>
            <a:ext cx="3429000" cy="1463040"/>
          </a:xfrm>
          <a:prstGeom prst="rect">
            <a:avLst/>
          </a:prstGeom>
          <a:noFill/>
          <a:ln/>
        </p:spPr>
        <p:txBody>
          <a:bodyPr wrap="square" lIns="0" tIns="0" rIns="0" bIns="0" rtlCol="0" anchor="ctr"/>
          <a:lstStyle/>
          <a:p>
            <a:pPr indent="0" marL="0">
              <a:buNone/>
            </a:pPr>
            <a:r>
              <a:rPr lang="en-US" sz="1600" dirty="0">
                <a:solidFill>
                  <a:schemeClr val="tx1"/>
                </a:solidFill>
              </a:rPr>
              <a:t>Dibuja el diagrama de clases e indica qué interfaz es ancha y cuál estrecha.</a:t>
            </a:r>
            <a:endParaRPr lang="en-US" sz="1600" dirty="0"/>
          </a:p>
        </p:txBody>
      </p:sp>
      <p:sp>
        <p:nvSpPr>
          <p:cNvPr id="15" name="Fuente"/>
          <p:cNvSpPr txBox="1"/>
          <p:nvPr/>
        </p:nvSpPr>
        <p:spPr>
          <a:xfrm>
            <a:off x="548640" y="4663440"/>
            <a:ext cx="8046720" cy="228600"/>
          </a:xfrm>
          <a:prstGeom prst="rect">
            <a:avLst/>
          </a:prstGeom>
          <a:noFill/>
          <a:ln/>
        </p:spPr>
        <p:txBody>
          <a:bodyPr wrap="square" lIns="0" tIns="0" rIns="0" bIns="0" rtlCol="0" anchor="t"/>
          <a:lstStyle/>
          <a:p>
            <a:pPr indent="0" marL="0">
              <a:buNone/>
            </a:pPr>
            <a:r>
              <a:rPr lang="en-US" sz="1000" dirty="0">
                <a:solidFill>
                  <a:schemeClr val="accent6"/>
                </a:solidFill>
              </a:rPr>
              <a:t>Taller de elaboración propia.</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Referencias</a:t>
            </a:r>
            <a:endParaRPr lang="en-US" sz="3600" dirty="0"/>
          </a:p>
        </p:txBody>
      </p:sp>
      <p:sp>
        <p:nvSpPr>
          <p:cNvPr id="3" name="Tarjeta referencias"/>
          <p:cNvSpPr/>
          <p:nvPr/>
        </p:nvSpPr>
        <p:spPr>
          <a:xfrm>
            <a:off x="548640" y="1371600"/>
            <a:ext cx="8046720" cy="3108960"/>
          </a:xfrm>
          <a:prstGeom prst="roundRect">
            <a:avLst>
              <a:gd name="adj" fmla="val 3529"/>
            </a:avLst>
          </a:prstGeom>
          <a:solidFill>
            <a:schemeClr val="bg2"/>
          </a:solidFill>
          <a:ln/>
        </p:spPr>
      </p:sp>
      <p:sp>
        <p:nvSpPr>
          <p:cNvPr id="4" name="Lista referencias"/>
          <p:cNvSpPr txBox="1"/>
          <p:nvPr/>
        </p:nvSpPr>
        <p:spPr>
          <a:xfrm>
            <a:off x="822960" y="1600200"/>
            <a:ext cx="749808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Gamma, E., Helm, R., Johnson, R. y Vlissides, J. (1994). Design Patterns: Elements of Reusable Object-Oriented Software. Addison-Wesley.</a:t>
            </a:r>
            <a:endParaRPr lang="en-US" sz="1600" dirty="0"/>
          </a:p>
          <a:p>
            <a:pPr marL="342900" indent="-342900">
              <a:spcAft>
                <a:spcPts val="800"/>
              </a:spcAft>
              <a:buSzPct val="100000"/>
              <a:buChar char="•"/>
            </a:pPr>
            <a:r>
              <a:rPr lang="en-US" sz="1600" dirty="0">
                <a:solidFill>
                  <a:schemeClr val="tx1"/>
                </a:solidFill>
              </a:rPr>
              <a:t>Proyecto del curso: documento de requisitos del módulo GDA (RF-GDA-09 y RF-GDA-13).</a:t>
            </a:r>
            <a:endParaRPr lang="en-US" sz="1600" dirty="0"/>
          </a:p>
          <a:p>
            <a:pPr marL="342900" indent="-342900">
              <a:buSzPct val="100000"/>
              <a:buChar char="•"/>
            </a:pPr>
            <a:r>
              <a:rPr lang="en-US" sz="1600" dirty="0">
                <a:solidFill>
                  <a:schemeClr val="tx1"/>
                </a:solidFill>
              </a:rPr>
              <a:t>Diagramas de las diapositivas 6, 7 y 10: elaboración propia; los de las diapositivas 6 y 7 se basan en los de Gamma et al. (1994).</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tiqueta cierre"/>
          <p:cNvSpPr txBox="1"/>
          <p:nvPr/>
        </p:nvSpPr>
        <p:spPr>
          <a:xfrm>
            <a:off x="548640" y="640080"/>
            <a:ext cx="5120640" cy="274320"/>
          </a:xfrm>
          <a:prstGeom prst="rect">
            <a:avLst/>
          </a:prstGeom>
          <a:noFill/>
          <a:ln/>
        </p:spPr>
        <p:txBody>
          <a:bodyPr wrap="square" lIns="0" tIns="0" rIns="0" bIns="0" rtlCol="0" anchor="ctr"/>
          <a:lstStyle/>
          <a:p>
            <a:pPr indent="0" marL="0">
              <a:buNone/>
            </a:pPr>
            <a:r>
              <a:rPr lang="en-US" sz="1100" b="1" spc="200" kern="0" dirty="0">
                <a:solidFill>
                  <a:schemeClr val="accent5"/>
                </a:solidFill>
              </a:rPr>
              <a:t>GRACIAS POR SU ATENCIÓN</a:t>
            </a:r>
            <a:endParaRPr lang="en-US" sz="1100" dirty="0"/>
          </a:p>
        </p:txBody>
      </p:sp>
      <p:sp>
        <p:nvSpPr>
          <p:cNvPr id="3" name="Text 1"/>
          <p:cNvSpPr/>
          <p:nvPr>
            <p:ph idx="101" type="title" hasCustomPrompt="1"/>
          </p:nvPr>
        </p:nvSpPr>
        <p:spPr>
          <a:xfrm>
            <a:off x="548640" y="1143000"/>
            <a:ext cx="4754880" cy="1097280"/>
          </a:xfrm>
          <a:prstGeom prst="rect">
            <a:avLst/>
          </a:prstGeom>
          <a:noFill/>
          <a:ln/>
        </p:spPr>
        <p:txBody>
          <a:bodyPr wrap="square" lIns="0" tIns="0" rIns="0" bIns="0" rtlCol="0" anchor="t"/>
          <a:lstStyle/>
          <a:p>
            <a:pPr algn="l" indent="0" marL="0">
              <a:buNone/>
            </a:pPr>
            <a:r>
              <a:rPr lang="en-US" sz="6000" b="1" dirty="0">
                <a:solidFill>
                  <a:schemeClr val="bg1"/>
                </a:solidFill>
              </a:rPr>
              <a:t>Gracias</a:t>
            </a:r>
            <a:endParaRPr lang="en-US" sz="6000" dirty="0"/>
          </a:p>
        </p:txBody>
      </p:sp>
      <p:sp>
        <p:nvSpPr>
          <p:cNvPr id="4" name="Preguntas"/>
          <p:cNvSpPr txBox="1"/>
          <p:nvPr/>
        </p:nvSpPr>
        <p:spPr>
          <a:xfrm>
            <a:off x="548640" y="2377440"/>
            <a:ext cx="4572000" cy="640080"/>
          </a:xfrm>
          <a:prstGeom prst="rect">
            <a:avLst/>
          </a:prstGeom>
          <a:noFill/>
          <a:ln/>
        </p:spPr>
        <p:txBody>
          <a:bodyPr wrap="square" lIns="0" tIns="0" rIns="0" bIns="0" rtlCol="0" anchor="t"/>
          <a:lstStyle/>
          <a:p>
            <a:pPr indent="0" marL="0">
              <a:buNone/>
            </a:pPr>
            <a:r>
              <a:rPr lang="en-US" sz="2800" dirty="0">
                <a:solidFill>
                  <a:schemeClr val="bg2"/>
                </a:solidFill>
              </a:rPr>
              <a:t>¿Preguntas?</a:t>
            </a:r>
            <a:endParaRPr lang="en-US" sz="2800" dirty="0"/>
          </a:p>
        </p:txBody>
      </p:sp>
      <p:sp>
        <p:nvSpPr>
          <p:cNvPr id="5" name="Curso y autor"/>
          <p:cNvSpPr txBox="1"/>
          <p:nvPr/>
        </p:nvSpPr>
        <p:spPr>
          <a:xfrm>
            <a:off x="548640" y="4114800"/>
            <a:ext cx="4937760" cy="594360"/>
          </a:xfrm>
          <a:prstGeom prst="rect">
            <a:avLst/>
          </a:prstGeom>
          <a:noFill/>
          <a:ln/>
        </p:spPr>
        <p:txBody>
          <a:bodyPr wrap="square" lIns="0" tIns="0" rIns="0" bIns="0" rtlCol="0" anchor="t"/>
          <a:lstStyle/>
          <a:p>
            <a:pPr indent="0" marL="0">
              <a:buNone/>
            </a:pPr>
            <a:r>
              <a:rPr lang="en-US" sz="1400" dirty="0">
                <a:solidFill>
                  <a:schemeClr val="bg1"/>
                </a:solidFill>
              </a:rPr>
              <a:t>Arquitectura de Software — VIII Semestre</a:t>
            </a:r>
            <a:endParaRPr lang="en-US" sz="1400" dirty="0"/>
          </a:p>
          <a:p>
            <a:pPr indent="0" marL="0">
              <a:buNone/>
            </a:pPr>
            <a:r>
              <a:rPr lang="en-US" sz="1400" dirty="0">
                <a:solidFill>
                  <a:schemeClr val="bg1"/>
                </a:solidFill>
              </a:rPr>
              <a:t>William de Jesús Peñaranda Torres</a:t>
            </a:r>
            <a:endParaRPr lang="en-US" sz="1400" dirty="0"/>
          </a:p>
        </p:txBody>
      </p:sp>
      <p:sp>
        <p:nvSpPr>
          <p:cNvPr id="6" name="Instantánea 1"/>
          <p:cNvSpPr/>
          <p:nvPr/>
        </p:nvSpPr>
        <p:spPr>
          <a:xfrm>
            <a:off x="5577840" y="1188720"/>
            <a:ext cx="2468880" cy="1371600"/>
          </a:xfrm>
          <a:prstGeom prst="roundRect">
            <a:avLst>
              <a:gd name="adj" fmla="val 10000"/>
            </a:avLst>
          </a:prstGeom>
          <a:solidFill>
            <a:schemeClr val="accent5"/>
          </a:solidFill>
          <a:ln w="19050">
            <a:solidFill>
              <a:schemeClr val="tx2"/>
            </a:solidFill>
            <a:prstDash val="solid"/>
          </a:ln>
          <a:effectLst>
            <a:outerShdw sx="100000" sy="100000" kx="0" ky="0" algn="bl" rotWithShape="0" blurRad="101600" dist="38100" dir="5400000">
              <a:srgbClr val="000000">
                <a:alpha val="30000"/>
              </a:srgbClr>
            </a:outerShdw>
          </a:effectLst>
        </p:spPr>
      </p:sp>
      <p:sp>
        <p:nvSpPr>
          <p:cNvPr id="7" name="Texto instantánea 1"/>
          <p:cNvSpPr txBox="1"/>
          <p:nvPr/>
        </p:nvSpPr>
        <p:spPr>
          <a:xfrm>
            <a:off x="5806440" y="1298448"/>
            <a:ext cx="2011680" cy="365760"/>
          </a:xfrm>
          <a:prstGeom prst="rect">
            <a:avLst/>
          </a:prstGeom>
          <a:noFill/>
          <a:ln/>
        </p:spPr>
        <p:txBody>
          <a:bodyPr wrap="square" lIns="0" tIns="0" rIns="0" bIns="0" rtlCol="0" anchor="ctr"/>
          <a:lstStyle/>
          <a:p>
            <a:pPr algn="l" indent="0" marL="0">
              <a:buNone/>
            </a:pPr>
            <a:r>
              <a:rPr lang="en-US" sz="1800" b="1" dirty="0">
                <a:solidFill>
                  <a:schemeClr val="tx2"/>
                </a:solidFill>
              </a:rPr>
              <a:t>estado v1</a:t>
            </a:r>
            <a:endParaRPr lang="en-US" sz="1800" dirty="0"/>
          </a:p>
        </p:txBody>
      </p:sp>
      <p:sp>
        <p:nvSpPr>
          <p:cNvPr id="8" name="Instantánea 2"/>
          <p:cNvSpPr/>
          <p:nvPr/>
        </p:nvSpPr>
        <p:spPr>
          <a:xfrm>
            <a:off x="5852160" y="1783080"/>
            <a:ext cx="2468880" cy="1371600"/>
          </a:xfrm>
          <a:prstGeom prst="roundRect">
            <a:avLst>
              <a:gd name="adj" fmla="val 10000"/>
            </a:avLst>
          </a:prstGeom>
          <a:solidFill>
            <a:schemeClr val="accent1"/>
          </a:solidFill>
          <a:ln w="19050">
            <a:solidFill>
              <a:schemeClr val="tx2"/>
            </a:solidFill>
            <a:prstDash val="solid"/>
          </a:ln>
          <a:effectLst>
            <a:outerShdw sx="100000" sy="100000" kx="0" ky="0" algn="bl" rotWithShape="0" blurRad="101600" dist="38100" dir="5400000">
              <a:srgbClr val="000000">
                <a:alpha val="30000"/>
              </a:srgbClr>
            </a:outerShdw>
          </a:effectLst>
        </p:spPr>
      </p:sp>
      <p:sp>
        <p:nvSpPr>
          <p:cNvPr id="9" name="Texto instantánea 2"/>
          <p:cNvSpPr txBox="1"/>
          <p:nvPr/>
        </p:nvSpPr>
        <p:spPr>
          <a:xfrm>
            <a:off x="6080760" y="1892808"/>
            <a:ext cx="2011680" cy="365760"/>
          </a:xfrm>
          <a:prstGeom prst="rect">
            <a:avLst/>
          </a:prstGeom>
          <a:noFill/>
          <a:ln/>
        </p:spPr>
        <p:txBody>
          <a:bodyPr wrap="square" lIns="0" tIns="0" rIns="0" bIns="0" rtlCol="0" anchor="ctr"/>
          <a:lstStyle/>
          <a:p>
            <a:pPr algn="l" indent="0" marL="0">
              <a:buNone/>
            </a:pPr>
            <a:r>
              <a:rPr lang="en-US" sz="1800" b="1" dirty="0">
                <a:solidFill>
                  <a:schemeClr val="bg1"/>
                </a:solidFill>
              </a:rPr>
              <a:t>estado v2</a:t>
            </a:r>
            <a:endParaRPr lang="en-US" sz="1800" dirty="0"/>
          </a:p>
        </p:txBody>
      </p:sp>
      <p:sp>
        <p:nvSpPr>
          <p:cNvPr id="10" name="Instantánea 3"/>
          <p:cNvSpPr/>
          <p:nvPr/>
        </p:nvSpPr>
        <p:spPr>
          <a:xfrm>
            <a:off x="6126480" y="2377440"/>
            <a:ext cx="2468880" cy="1371600"/>
          </a:xfrm>
          <a:prstGeom prst="roundRect">
            <a:avLst>
              <a:gd name="adj" fmla="val 10000"/>
            </a:avLst>
          </a:prstGeom>
          <a:solidFill>
            <a:schemeClr val="accent2"/>
          </a:solidFill>
          <a:ln w="19050">
            <a:solidFill>
              <a:schemeClr val="tx2"/>
            </a:solidFill>
            <a:prstDash val="solid"/>
          </a:ln>
          <a:effectLst>
            <a:outerShdw sx="100000" sy="100000" kx="0" ky="0" algn="bl" rotWithShape="0" blurRad="101600" dist="38100" dir="5400000">
              <a:srgbClr val="000000">
                <a:alpha val="30000"/>
              </a:srgbClr>
            </a:outerShdw>
          </a:effectLst>
        </p:spPr>
      </p:sp>
      <p:sp>
        <p:nvSpPr>
          <p:cNvPr id="11" name="Texto instantánea 3"/>
          <p:cNvSpPr txBox="1"/>
          <p:nvPr/>
        </p:nvSpPr>
        <p:spPr>
          <a:xfrm>
            <a:off x="6355080" y="2487168"/>
            <a:ext cx="2011680" cy="365760"/>
          </a:xfrm>
          <a:prstGeom prst="rect">
            <a:avLst/>
          </a:prstGeom>
          <a:noFill/>
          <a:ln/>
        </p:spPr>
        <p:txBody>
          <a:bodyPr wrap="square" lIns="0" tIns="0" rIns="0" bIns="0" rtlCol="0" anchor="ctr"/>
          <a:lstStyle/>
          <a:p>
            <a:pPr algn="l" indent="0" marL="0">
              <a:buNone/>
            </a:pPr>
            <a:r>
              <a:rPr lang="en-US" sz="1800" b="1" dirty="0">
                <a:solidFill>
                  <a:schemeClr val="tx2"/>
                </a:solidFill>
              </a:rPr>
              <a:t>estado v3</a:t>
            </a:r>
            <a:endParaRPr lang="en-US" sz="1800" dirty="0"/>
          </a:p>
        </p:txBody>
      </p:sp>
      <p:sp>
        <p:nvSpPr>
          <p:cNvPr id="13" name="Text 1"/>
          <p:cNvSpPr/>
          <p:nvPr>
            <p:ph idx="102" type="body" hasCustomPrompt="1"/>
          </p:nvPr>
        </p:nvSpPr>
        <p:spPr>
          <a:xfrm>
            <a:off x="548640" y="2377440"/>
            <a:ext cx="4572000" cy="109728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theme/theme1.xml><?xml version="1.0" encoding="utf-8"?>
<a:theme xmlns:a="http://schemas.openxmlformats.org/drawingml/2006/main" name="Memento">
  <a:themeElements>
    <a:clrScheme name="Memento">
      <a:dk1>
        <a:srgbClr val="1B2B34"/>
      </a:dk1>
      <a:lt1>
        <a:srgbClr val="FFFFFF"/>
      </a:lt1>
      <a:dk2>
        <a:srgbClr val="12303B"/>
      </a:dk2>
      <a:lt2>
        <a:srgbClr val="EAF3F2"/>
      </a:lt2>
      <a:accent1>
        <a:srgbClr val="2A9D8F"/>
      </a:accent1>
      <a:accent2>
        <a:srgbClr val="F4A261"/>
      </a:accent2>
      <a:accent3>
        <a:srgbClr val="E76F51"/>
      </a:accent3>
      <a:accent4>
        <a:srgbClr val="264653"/>
      </a:accent4>
      <a:accent5>
        <a:srgbClr val="8AB6B0"/>
      </a:accent5>
      <a:accent6>
        <a:srgbClr val="6C757D"/>
      </a:accent6>
      <a:hlink>
        <a:srgbClr val="2A9D8F"/>
      </a:hlink>
      <a:folHlink>
        <a:srgbClr val="6C757D"/>
      </a:folHlink>
    </a:clrScheme>
    <a:fontScheme name="Mement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Patrón de diseño Memento</dc:title>
  <dc:subject>PptxGenJS Presentation</dc:subject>
  <dc:creator>PptxGenJS</dc:creator>
  <cp:lastModifiedBy>PptxGenJS</cp:lastModifiedBy>
  <cp:revision>1</cp:revision>
  <dcterms:created xsi:type="dcterms:W3CDTF">2026-10-06T22:44:47Z</dcterms:created>
  <dcterms:modified xsi:type="dcterms:W3CDTF">2026-10-06T22:44:47Z</dcterms:modified>
</cp:coreProperties>
</file>